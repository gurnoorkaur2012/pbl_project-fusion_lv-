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Knewave" panose="020B0604020202020204" charset="0"/>
      <p:regular r:id="rId21"/>
    </p:embeddedFont>
    <p:embeddedFont>
      <p:font typeface="Quicksand" panose="020B0604020202020204" charset="0"/>
      <p:regular r:id="rId22"/>
    </p:embeddedFont>
    <p:embeddedFont>
      <p:font typeface="Quicksand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hyperlink" Target="https://www.sciencedirect.com/science/article/abs/pii/S1361841522001219?via%3Dihub" TargetMode="External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rontiersin.org/journals/medicine/articles/10.3389/fmed.2021.626369/full" TargetMode="External"/><Relationship Id="rId5" Type="http://schemas.openxmlformats.org/officeDocument/2006/relationships/hyperlink" Target="https://www.nature.com/articles/s41591-020-0942-0" TargetMode="External"/><Relationship Id="rId4" Type="http://schemas.openxmlformats.org/officeDocument/2006/relationships/hyperlink" Target="https://www.nature.com/articles/nature21056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hyperlink" Target="https://pubmed.ncbi.nlm.nih.gov/35960806?utm_source=chatgpt.com" TargetMode="External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i.nejm.org/doi/full/10.1056/AIdbp2400732?utm_source=chatgpt.com" TargetMode="External"/><Relationship Id="rId5" Type="http://schemas.openxmlformats.org/officeDocument/2006/relationships/hyperlink" Target="https://doi.org/10.1016/j.compbiomed.2023.107878" TargetMode="External"/><Relationship Id="rId4" Type="http://schemas.openxmlformats.org/officeDocument/2006/relationships/hyperlink" Target="https://www.mdpi.com/2076-3417/15/14/7856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20635" y="952500"/>
            <a:ext cx="8191167" cy="76200"/>
            <a:chOff x="0" y="0"/>
            <a:chExt cx="10921556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820019" cy="101600"/>
            </a:xfrm>
            <a:custGeom>
              <a:avLst/>
              <a:gdLst/>
              <a:ahLst/>
              <a:cxnLst/>
              <a:rect l="l" t="t" r="r" b="b"/>
              <a:pathLst>
                <a:path w="10820019" h="101600">
                  <a:moveTo>
                    <a:pt x="0" y="0"/>
                  </a:moveTo>
                  <a:lnTo>
                    <a:pt x="10820019" y="0"/>
                  </a:lnTo>
                  <a:lnTo>
                    <a:pt x="1082001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05669" y="9258300"/>
            <a:ext cx="8191167" cy="76200"/>
            <a:chOff x="0" y="0"/>
            <a:chExt cx="10921556" cy="101600"/>
          </a:xfrm>
        </p:grpSpPr>
        <p:sp>
          <p:nvSpPr>
            <p:cNvPr id="5" name="Freeform 5"/>
            <p:cNvSpPr/>
            <p:nvPr/>
          </p:nvSpPr>
          <p:spPr>
            <a:xfrm>
              <a:off x="50800" y="0"/>
              <a:ext cx="10820019" cy="101600"/>
            </a:xfrm>
            <a:custGeom>
              <a:avLst/>
              <a:gdLst/>
              <a:ahLst/>
              <a:cxnLst/>
              <a:rect l="l" t="t" r="r" b="b"/>
              <a:pathLst>
                <a:path w="10820019" h="101600">
                  <a:moveTo>
                    <a:pt x="0" y="0"/>
                  </a:moveTo>
                  <a:lnTo>
                    <a:pt x="10820019" y="0"/>
                  </a:lnTo>
                  <a:lnTo>
                    <a:pt x="1082001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5344" y="307753"/>
            <a:ext cx="4938474" cy="1441885"/>
            <a:chOff x="0" y="0"/>
            <a:chExt cx="6584632" cy="19225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84569" cy="1922526"/>
            </a:xfrm>
            <a:custGeom>
              <a:avLst/>
              <a:gdLst/>
              <a:ahLst/>
              <a:cxnLst/>
              <a:rect l="l" t="t" r="r" b="b"/>
              <a:pathLst>
                <a:path w="6584569" h="1922526">
                  <a:moveTo>
                    <a:pt x="0" y="0"/>
                  </a:moveTo>
                  <a:lnTo>
                    <a:pt x="6584569" y="0"/>
                  </a:lnTo>
                  <a:lnTo>
                    <a:pt x="6584569" y="1922526"/>
                  </a:lnTo>
                  <a:lnTo>
                    <a:pt x="0" y="1922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" r="-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3293488"/>
            <a:ext cx="18287999" cy="2490534"/>
          </a:xfrm>
          <a:custGeom>
            <a:avLst/>
            <a:gdLst/>
            <a:ahLst/>
            <a:cxnLst/>
            <a:rect l="l" t="t" r="r" b="b"/>
            <a:pathLst>
              <a:path w="14329964" h="2490534">
                <a:moveTo>
                  <a:pt x="0" y="0"/>
                </a:moveTo>
                <a:lnTo>
                  <a:pt x="14329964" y="0"/>
                </a:lnTo>
                <a:lnTo>
                  <a:pt x="14329964" y="2490534"/>
                </a:lnTo>
                <a:lnTo>
                  <a:pt x="0" y="2490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216951" y="3353822"/>
            <a:ext cx="16797299" cy="3274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83"/>
              </a:lnSpc>
            </a:pPr>
            <a:r>
              <a:rPr lang="en-US" sz="6284" b="1" u="sng" dirty="0" err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FusionLV</a:t>
            </a:r>
            <a:endParaRPr lang="en-US" sz="6284" b="1" u="sng" dirty="0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algn="ctr">
              <a:lnSpc>
                <a:spcPts val="7786"/>
              </a:lnSpc>
            </a:pPr>
            <a:r>
              <a:rPr lang="en-US" sz="458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AI-Powered Diagnosis of Livedoid Vasculopathy</a:t>
            </a:r>
          </a:p>
          <a:p>
            <a:pPr algn="ctr">
              <a:lnSpc>
                <a:spcPts val="7786"/>
              </a:lnSpc>
            </a:pPr>
            <a:r>
              <a:rPr lang="en-US" sz="458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34586" y="1483414"/>
            <a:ext cx="12978613" cy="181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1"/>
              </a:lnSpc>
            </a:pPr>
            <a:r>
              <a:rPr lang="en-US" sz="3894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School of Computer Science and Engineering</a:t>
            </a:r>
          </a:p>
          <a:p>
            <a:pPr algn="ctr">
              <a:lnSpc>
                <a:spcPts val="6621"/>
              </a:lnSpc>
            </a:pPr>
            <a:r>
              <a:rPr lang="en-US" sz="3894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Department of Computer Science and Engineering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34586" y="6129804"/>
            <a:ext cx="4840976" cy="276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64"/>
              </a:lnSpc>
            </a:pPr>
            <a:r>
              <a:rPr lang="en-US" sz="4097" u="sng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Submitted By:</a:t>
            </a:r>
          </a:p>
          <a:p>
            <a:pPr algn="ctr">
              <a:lnSpc>
                <a:spcPts val="6964"/>
              </a:lnSpc>
            </a:pPr>
            <a:r>
              <a:rPr lang="en-US" sz="40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Gurnoor Kaur</a:t>
            </a:r>
          </a:p>
          <a:p>
            <a:pPr algn="ctr">
              <a:lnSpc>
                <a:spcPts val="6964"/>
              </a:lnSpc>
            </a:pPr>
            <a:r>
              <a:rPr lang="en-US" sz="40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2427030134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03391" y="6148854"/>
            <a:ext cx="3542347" cy="169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73"/>
              </a:lnSpc>
            </a:pPr>
            <a:r>
              <a:rPr lang="en-US" sz="4102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4102" u="sng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upervised By</a:t>
            </a:r>
            <a:r>
              <a:rPr lang="en-US" sz="4102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:</a:t>
            </a:r>
          </a:p>
          <a:p>
            <a:pPr algn="ctr">
              <a:lnSpc>
                <a:spcPts val="6973"/>
              </a:lnSpc>
            </a:pPr>
            <a:r>
              <a:rPr lang="en-US" sz="4102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Dr. Bali Devi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4667" y="-190499"/>
            <a:ext cx="18372640" cy="1678552"/>
          </a:xfrm>
          <a:custGeom>
            <a:avLst/>
            <a:gdLst/>
            <a:ahLst/>
            <a:cxnLst/>
            <a:rect l="l" t="t" r="r" b="b"/>
            <a:pathLst>
              <a:path w="18457335" h="3207868">
                <a:moveTo>
                  <a:pt x="0" y="0"/>
                </a:moveTo>
                <a:lnTo>
                  <a:pt x="18457336" y="0"/>
                </a:lnTo>
                <a:lnTo>
                  <a:pt x="18457336" y="3207868"/>
                </a:lnTo>
                <a:lnTo>
                  <a:pt x="0" y="3207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4478000" y="0"/>
            <a:ext cx="3810000" cy="10287000"/>
            <a:chOff x="0" y="0"/>
            <a:chExt cx="6197511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97473" cy="13716000"/>
            </a:xfrm>
            <a:custGeom>
              <a:avLst/>
              <a:gdLst/>
              <a:ahLst/>
              <a:cxnLst/>
              <a:rect l="l" t="t" r="r" b="b"/>
              <a:pathLst>
                <a:path w="6197473" h="13716000">
                  <a:moveTo>
                    <a:pt x="0" y="0"/>
                  </a:moveTo>
                  <a:lnTo>
                    <a:pt x="6197473" y="0"/>
                  </a:lnTo>
                  <a:lnTo>
                    <a:pt x="61974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771" r="-2377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66800" y="-736177"/>
            <a:ext cx="4724400" cy="2002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929"/>
              </a:lnSpc>
            </a:pPr>
            <a:r>
              <a:rPr lang="en-US" sz="6000" b="1" u="sng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Outline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28600" y="1488053"/>
            <a:ext cx="17145000" cy="87989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Introduction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Literature Review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Research Gap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Problem Statement &amp; Project Objectives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Flowchart(System pipeline)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Dataset, Preprocessing and Augmentation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Feature Extraction, Selection &amp; Model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Overfitting &amp; Comparative Study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Results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Conclusion &amp; Future Plan</a:t>
            </a:r>
          </a:p>
          <a:p>
            <a:pPr marL="845696" lvl="2" indent="-281899" algn="just">
              <a:lnSpc>
                <a:spcPts val="6289"/>
              </a:lnSpc>
              <a:buFont typeface="Arial"/>
              <a:buChar char="⚬"/>
            </a:pPr>
            <a:r>
              <a:rPr lang="en-US" sz="34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20760" y="9258300"/>
            <a:ext cx="6568440" cy="76200"/>
            <a:chOff x="0" y="0"/>
            <a:chExt cx="8757920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63796" y="7610580"/>
            <a:ext cx="605057" cy="605057"/>
            <a:chOff x="0" y="0"/>
            <a:chExt cx="806742" cy="806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6704" cy="806704"/>
            </a:xfrm>
            <a:custGeom>
              <a:avLst/>
              <a:gdLst/>
              <a:ahLst/>
              <a:cxnLst/>
              <a:rect l="l" t="t" r="r" b="b"/>
              <a:pathLst>
                <a:path w="806704" h="806704">
                  <a:moveTo>
                    <a:pt x="0" y="0"/>
                  </a:moveTo>
                  <a:lnTo>
                    <a:pt x="806704" y="0"/>
                  </a:lnTo>
                  <a:lnTo>
                    <a:pt x="806704" y="806704"/>
                  </a:lnTo>
                  <a:lnTo>
                    <a:pt x="0" y="806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01791" y="2553519"/>
            <a:ext cx="15554306" cy="4196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5640" lvl="2" indent="-245213" algn="just">
              <a:lnSpc>
                <a:spcPts val="5470"/>
              </a:lnSpc>
              <a:buFont typeface="Arial"/>
              <a:buChar char="⚬"/>
            </a:pPr>
            <a:r>
              <a:rPr lang="en-US" sz="3218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Livedoid vasculopathy</a:t>
            </a:r>
            <a:r>
              <a:rPr lang="en-US" sz="321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(LV) is a rare thrombotic skin disorder characterized by painful ulcerations that heal into distinctive porcelain-white scars. It mostly effect the lower limbs bilaterally.</a:t>
            </a:r>
          </a:p>
          <a:p>
            <a:pPr marL="735640" lvl="2" indent="-245213" algn="just">
              <a:lnSpc>
                <a:spcPts val="5470"/>
              </a:lnSpc>
            </a:pPr>
            <a:endParaRPr lang="en-US" sz="3218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735640" lvl="2" indent="-245213" algn="just">
              <a:lnSpc>
                <a:spcPts val="5470"/>
              </a:lnSpc>
              <a:buFont typeface="Arial"/>
              <a:buChar char="⚬"/>
            </a:pPr>
            <a:r>
              <a:rPr lang="en-US" sz="3218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 condition's clinical presentation overlaps significantly with vasculitic and ulcerative disorders, creating a diagnostic maze that leads to: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12232" y="7330440"/>
            <a:ext cx="4692748" cy="841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6"/>
              </a:lnSpc>
            </a:pPr>
            <a:r>
              <a:rPr lang="en-US" sz="3398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Frequent misdiagnosis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4000" y="7610580"/>
            <a:ext cx="605057" cy="605057"/>
            <a:chOff x="0" y="0"/>
            <a:chExt cx="806742" cy="8067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6704" cy="806704"/>
            </a:xfrm>
            <a:custGeom>
              <a:avLst/>
              <a:gdLst/>
              <a:ahLst/>
              <a:cxnLst/>
              <a:rect l="l" t="t" r="r" b="b"/>
              <a:pathLst>
                <a:path w="806704" h="806704">
                  <a:moveTo>
                    <a:pt x="0" y="0"/>
                  </a:moveTo>
                  <a:lnTo>
                    <a:pt x="806704" y="0"/>
                  </a:lnTo>
                  <a:lnTo>
                    <a:pt x="806704" y="806704"/>
                  </a:lnTo>
                  <a:lnTo>
                    <a:pt x="0" y="806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196732" y="7286730"/>
            <a:ext cx="7172096" cy="84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33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Delayed treatment initiation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886" y="-1100765"/>
            <a:ext cx="18277114" cy="3466679"/>
          </a:xfrm>
          <a:custGeom>
            <a:avLst/>
            <a:gdLst/>
            <a:ahLst/>
            <a:cxnLst/>
            <a:rect l="l" t="t" r="r" b="b"/>
            <a:pathLst>
              <a:path w="19946476" h="3466679">
                <a:moveTo>
                  <a:pt x="0" y="0"/>
                </a:moveTo>
                <a:lnTo>
                  <a:pt x="19946475" y="0"/>
                </a:lnTo>
                <a:lnTo>
                  <a:pt x="19946475" y="3466679"/>
                </a:lnTo>
                <a:lnTo>
                  <a:pt x="0" y="34666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5156273" y="678475"/>
            <a:ext cx="6568440" cy="76200"/>
            <a:chOff x="0" y="0"/>
            <a:chExt cx="8757920" cy="101600"/>
          </a:xfrm>
        </p:grpSpPr>
        <p:sp>
          <p:nvSpPr>
            <p:cNvPr id="15" name="Freeform 15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729870" y="379856"/>
            <a:ext cx="8412745" cy="2160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86"/>
              </a:lnSpc>
            </a:pPr>
            <a:r>
              <a:rPr lang="en-US" sz="8471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INTRODUCTION</a:t>
            </a:r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1429E329-9A71-A0C6-BD68-EBBB7DA9A4E2}"/>
              </a:ext>
            </a:extLst>
          </p:cNvPr>
          <p:cNvSpPr/>
          <p:nvPr/>
        </p:nvSpPr>
        <p:spPr>
          <a:xfrm>
            <a:off x="8096245" y="257724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9734E572-9D55-0DF1-3ED3-923125B06B8A}"/>
              </a:ext>
            </a:extLst>
          </p:cNvPr>
          <p:cNvSpPr/>
          <p:nvPr/>
        </p:nvSpPr>
        <p:spPr>
          <a:xfrm>
            <a:off x="7924800" y="9608525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21298" y="9775765"/>
            <a:ext cx="4773539" cy="57150"/>
            <a:chOff x="0" y="0"/>
            <a:chExt cx="6364719" cy="76200"/>
          </a:xfrm>
        </p:grpSpPr>
        <p:sp>
          <p:nvSpPr>
            <p:cNvPr id="3" name="Freeform 3"/>
            <p:cNvSpPr/>
            <p:nvPr/>
          </p:nvSpPr>
          <p:spPr>
            <a:xfrm>
              <a:off x="38100" y="0"/>
              <a:ext cx="6288532" cy="76200"/>
            </a:xfrm>
            <a:custGeom>
              <a:avLst/>
              <a:gdLst/>
              <a:ahLst/>
              <a:cxnLst/>
              <a:rect l="l" t="t" r="r" b="b"/>
              <a:pathLst>
                <a:path w="6288532" h="76200">
                  <a:moveTo>
                    <a:pt x="0" y="0"/>
                  </a:moveTo>
                  <a:lnTo>
                    <a:pt x="6288532" y="0"/>
                  </a:lnTo>
                  <a:lnTo>
                    <a:pt x="628853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3543" y="3559159"/>
            <a:ext cx="7744339" cy="3559159"/>
            <a:chOff x="0" y="0"/>
            <a:chExt cx="10325786" cy="47455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25735" cy="4745482"/>
            </a:xfrm>
            <a:custGeom>
              <a:avLst/>
              <a:gdLst/>
              <a:ahLst/>
              <a:cxnLst/>
              <a:rect l="l" t="t" r="r" b="b"/>
              <a:pathLst>
                <a:path w="10325735" h="4745482">
                  <a:moveTo>
                    <a:pt x="0" y="0"/>
                  </a:moveTo>
                  <a:lnTo>
                    <a:pt x="10325735" y="0"/>
                  </a:lnTo>
                  <a:lnTo>
                    <a:pt x="10325735" y="4745482"/>
                  </a:lnTo>
                  <a:lnTo>
                    <a:pt x="0" y="4745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703" b="-2970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3543" y="7089438"/>
            <a:ext cx="7744339" cy="3197562"/>
            <a:chOff x="0" y="0"/>
            <a:chExt cx="10325786" cy="42634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25735" cy="4263390"/>
            </a:xfrm>
            <a:custGeom>
              <a:avLst/>
              <a:gdLst/>
              <a:ahLst/>
              <a:cxnLst/>
              <a:rect l="l" t="t" r="r" b="b"/>
              <a:pathLst>
                <a:path w="10325735" h="4263390">
                  <a:moveTo>
                    <a:pt x="0" y="0"/>
                  </a:moveTo>
                  <a:lnTo>
                    <a:pt x="10325735" y="0"/>
                  </a:lnTo>
                  <a:lnTo>
                    <a:pt x="10325735" y="4263390"/>
                  </a:lnTo>
                  <a:lnTo>
                    <a:pt x="0" y="4263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4257" b="-7425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2341466" y="391173"/>
            <a:ext cx="15946534" cy="3126828"/>
          </a:xfrm>
          <a:custGeom>
            <a:avLst/>
            <a:gdLst/>
            <a:ahLst/>
            <a:cxnLst/>
            <a:rect l="l" t="t" r="r" b="b"/>
            <a:pathLst>
              <a:path w="17991052" h="3126828">
                <a:moveTo>
                  <a:pt x="0" y="0"/>
                </a:moveTo>
                <a:lnTo>
                  <a:pt x="17991053" y="0"/>
                </a:lnTo>
                <a:lnTo>
                  <a:pt x="17991053" y="3126828"/>
                </a:lnTo>
                <a:lnTo>
                  <a:pt x="0" y="3126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763543" y="0"/>
            <a:ext cx="7744339" cy="3559159"/>
            <a:chOff x="0" y="0"/>
            <a:chExt cx="10325786" cy="47455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325735" cy="4745482"/>
            </a:xfrm>
            <a:custGeom>
              <a:avLst/>
              <a:gdLst/>
              <a:ahLst/>
              <a:cxnLst/>
              <a:rect l="l" t="t" r="r" b="b"/>
              <a:pathLst>
                <a:path w="10325735" h="4745482">
                  <a:moveTo>
                    <a:pt x="0" y="0"/>
                  </a:moveTo>
                  <a:lnTo>
                    <a:pt x="10325735" y="0"/>
                  </a:lnTo>
                  <a:lnTo>
                    <a:pt x="10325735" y="4745482"/>
                  </a:lnTo>
                  <a:lnTo>
                    <a:pt x="0" y="4745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528" b="-2052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48598" y="334023"/>
            <a:ext cx="4773539" cy="57150"/>
            <a:chOff x="0" y="0"/>
            <a:chExt cx="6364719" cy="76200"/>
          </a:xfrm>
        </p:grpSpPr>
        <p:sp>
          <p:nvSpPr>
            <p:cNvPr id="16" name="Freeform 16"/>
            <p:cNvSpPr/>
            <p:nvPr/>
          </p:nvSpPr>
          <p:spPr>
            <a:xfrm>
              <a:off x="38100" y="0"/>
              <a:ext cx="6288532" cy="76200"/>
            </a:xfrm>
            <a:custGeom>
              <a:avLst/>
              <a:gdLst/>
              <a:ahLst/>
              <a:cxnLst/>
              <a:rect l="l" t="t" r="r" b="b"/>
              <a:pathLst>
                <a:path w="6288532" h="76200">
                  <a:moveTo>
                    <a:pt x="0" y="0"/>
                  </a:moveTo>
                  <a:lnTo>
                    <a:pt x="6288532" y="0"/>
                  </a:lnTo>
                  <a:lnTo>
                    <a:pt x="628853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888873" y="390811"/>
            <a:ext cx="8998648" cy="316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8"/>
              </a:lnSpc>
            </a:pPr>
            <a:r>
              <a:rPr lang="en-US" sz="4704" b="1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Representative Clinical Images and Key Symptoms of Livedoid Vasculopathy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77044" y="3606784"/>
            <a:ext cx="9865604" cy="549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3961" lvl="2" indent="-274654" algn="just">
              <a:lnSpc>
                <a:spcPts val="6127"/>
              </a:lnSpc>
              <a:buAutoNum type="arabicPeriod"/>
            </a:pPr>
            <a:r>
              <a:rPr lang="en-US" sz="3603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Painful ulcers on the lower legs or ankles</a:t>
            </a:r>
          </a:p>
          <a:p>
            <a:pPr marL="823961" lvl="2" indent="-274654" algn="just">
              <a:lnSpc>
                <a:spcPts val="6127"/>
              </a:lnSpc>
              <a:buAutoNum type="arabicPeriod"/>
            </a:pPr>
            <a:r>
              <a:rPr lang="en-US" sz="3603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Livedo reticularis pattern — net-like purplish skin discoloration</a:t>
            </a:r>
          </a:p>
          <a:p>
            <a:pPr marL="823961" lvl="2" indent="-274654" algn="just">
              <a:lnSpc>
                <a:spcPts val="6127"/>
              </a:lnSpc>
              <a:buAutoNum type="arabicPeriod"/>
            </a:pPr>
            <a:r>
              <a:rPr lang="en-US" sz="3603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Atrophie</a:t>
            </a:r>
            <a:r>
              <a:rPr lang="en-US" sz="3603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blanche — white, scar-like patches after healing</a:t>
            </a:r>
          </a:p>
          <a:p>
            <a:pPr marL="823961" lvl="2" indent="-274654" algn="just">
              <a:lnSpc>
                <a:spcPts val="6127"/>
              </a:lnSpc>
              <a:buAutoNum type="arabicPeriod"/>
            </a:pPr>
            <a:r>
              <a:rPr lang="en-US" sz="3603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Burning or stinging sensation in affected areas</a:t>
            </a:r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0B2FD6F5-9B22-4F88-3F85-573C52FB72C7}"/>
              </a:ext>
            </a:extLst>
          </p:cNvPr>
          <p:cNvSpPr/>
          <p:nvPr/>
        </p:nvSpPr>
        <p:spPr>
          <a:xfrm>
            <a:off x="9045301" y="965205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691851C0-83E3-CF90-217D-B0E93885BAA4}"/>
              </a:ext>
            </a:extLst>
          </p:cNvPr>
          <p:cNvSpPr/>
          <p:nvPr/>
        </p:nvSpPr>
        <p:spPr>
          <a:xfrm>
            <a:off x="15804559" y="20720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1948" y="-58150"/>
            <a:ext cx="6589081" cy="4171188"/>
          </a:xfrm>
          <a:custGeom>
            <a:avLst/>
            <a:gdLst/>
            <a:ahLst/>
            <a:cxnLst/>
            <a:rect l="l" t="t" r="r" b="b"/>
            <a:pathLst>
              <a:path w="6589081" h="4171188">
                <a:moveTo>
                  <a:pt x="0" y="0"/>
                </a:moveTo>
                <a:lnTo>
                  <a:pt x="6589081" y="0"/>
                </a:lnTo>
                <a:lnTo>
                  <a:pt x="6589081" y="4171188"/>
                </a:lnTo>
                <a:lnTo>
                  <a:pt x="0" y="4171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194428" y="-58150"/>
            <a:ext cx="6434899" cy="4171188"/>
          </a:xfrm>
          <a:custGeom>
            <a:avLst/>
            <a:gdLst/>
            <a:ahLst/>
            <a:cxnLst/>
            <a:rect l="l" t="t" r="r" b="b"/>
            <a:pathLst>
              <a:path w="6434899" h="4171188">
                <a:moveTo>
                  <a:pt x="0" y="0"/>
                </a:moveTo>
                <a:lnTo>
                  <a:pt x="6434899" y="0"/>
                </a:lnTo>
                <a:lnTo>
                  <a:pt x="6434899" y="4171188"/>
                </a:lnTo>
                <a:lnTo>
                  <a:pt x="0" y="4171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194428" y="4660125"/>
            <a:ext cx="6434899" cy="4598175"/>
          </a:xfrm>
          <a:custGeom>
            <a:avLst/>
            <a:gdLst/>
            <a:ahLst/>
            <a:cxnLst/>
            <a:rect l="l" t="t" r="r" b="b"/>
            <a:pathLst>
              <a:path w="6434899" h="4598175">
                <a:moveTo>
                  <a:pt x="0" y="0"/>
                </a:moveTo>
                <a:lnTo>
                  <a:pt x="6434899" y="0"/>
                </a:lnTo>
                <a:lnTo>
                  <a:pt x="6434899" y="4598175"/>
                </a:lnTo>
                <a:lnTo>
                  <a:pt x="0" y="4598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651948" y="4673356"/>
            <a:ext cx="6589081" cy="4598175"/>
          </a:xfrm>
          <a:custGeom>
            <a:avLst/>
            <a:gdLst/>
            <a:ahLst/>
            <a:cxnLst/>
            <a:rect l="l" t="t" r="r" b="b"/>
            <a:pathLst>
              <a:path w="6589081" h="4598175">
                <a:moveTo>
                  <a:pt x="0" y="0"/>
                </a:moveTo>
                <a:lnTo>
                  <a:pt x="6589081" y="0"/>
                </a:lnTo>
                <a:lnTo>
                  <a:pt x="6589081" y="4598174"/>
                </a:lnTo>
                <a:lnTo>
                  <a:pt x="0" y="4598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239326" y="5616607"/>
            <a:ext cx="5414315" cy="3186379"/>
            <a:chOff x="0" y="0"/>
            <a:chExt cx="7219086" cy="42485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19061" cy="4248531"/>
            </a:xfrm>
            <a:custGeom>
              <a:avLst/>
              <a:gdLst/>
              <a:ahLst/>
              <a:cxnLst/>
              <a:rect l="l" t="t" r="r" b="b"/>
              <a:pathLst>
                <a:path w="7219061" h="4248531">
                  <a:moveTo>
                    <a:pt x="0" y="0"/>
                  </a:moveTo>
                  <a:lnTo>
                    <a:pt x="7219061" y="0"/>
                  </a:lnTo>
                  <a:lnTo>
                    <a:pt x="7219061" y="4248531"/>
                  </a:lnTo>
                  <a:lnTo>
                    <a:pt x="0" y="4248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677" b="-967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9326" y="693858"/>
            <a:ext cx="5414315" cy="3051762"/>
            <a:chOff x="0" y="0"/>
            <a:chExt cx="7219086" cy="40690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19061" cy="4068953"/>
            </a:xfrm>
            <a:custGeom>
              <a:avLst/>
              <a:gdLst/>
              <a:ahLst/>
              <a:cxnLst/>
              <a:rect l="l" t="t" r="r" b="b"/>
              <a:pathLst>
                <a:path w="7219061" h="4068953">
                  <a:moveTo>
                    <a:pt x="0" y="0"/>
                  </a:moveTo>
                  <a:lnTo>
                    <a:pt x="7219061" y="0"/>
                  </a:lnTo>
                  <a:lnTo>
                    <a:pt x="7219061" y="4068953"/>
                  </a:lnTo>
                  <a:lnTo>
                    <a:pt x="0" y="4068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1" r="-421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33809" y="727396"/>
            <a:ext cx="5248532" cy="3070241"/>
            <a:chOff x="0" y="0"/>
            <a:chExt cx="6998043" cy="40936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98081" cy="4093591"/>
            </a:xfrm>
            <a:custGeom>
              <a:avLst/>
              <a:gdLst/>
              <a:ahLst/>
              <a:cxnLst/>
              <a:rect l="l" t="t" r="r" b="b"/>
              <a:pathLst>
                <a:path w="6998081" h="4093591">
                  <a:moveTo>
                    <a:pt x="0" y="0"/>
                  </a:moveTo>
                  <a:lnTo>
                    <a:pt x="6998081" y="0"/>
                  </a:lnTo>
                  <a:lnTo>
                    <a:pt x="6998081" y="4093591"/>
                  </a:lnTo>
                  <a:lnTo>
                    <a:pt x="0" y="409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9016" b="-5901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87607" y="5560152"/>
            <a:ext cx="5248532" cy="3268266"/>
            <a:chOff x="0" y="0"/>
            <a:chExt cx="6998043" cy="43576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98081" cy="4357751"/>
            </a:xfrm>
            <a:custGeom>
              <a:avLst/>
              <a:gdLst/>
              <a:ahLst/>
              <a:cxnLst/>
              <a:rect l="l" t="t" r="r" b="b"/>
              <a:pathLst>
                <a:path w="6998081" h="4357751">
                  <a:moveTo>
                    <a:pt x="0" y="0"/>
                  </a:moveTo>
                  <a:lnTo>
                    <a:pt x="6998081" y="0"/>
                  </a:lnTo>
                  <a:lnTo>
                    <a:pt x="6998081" y="4357751"/>
                  </a:lnTo>
                  <a:lnTo>
                    <a:pt x="0" y="4357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4361" b="-243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75230" y="4013216"/>
            <a:ext cx="6342507" cy="88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3"/>
              </a:lnSpc>
            </a:pPr>
            <a:r>
              <a:rPr lang="en-US" sz="3578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Leukocytoclastic vasculitis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043" y="9176280"/>
            <a:ext cx="7512882" cy="88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8"/>
              </a:lnSpc>
            </a:pPr>
            <a:r>
              <a:rPr lang="en-US" sz="3575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Cutaneous Vasculitis Lesions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81468" y="4013216"/>
            <a:ext cx="3660819" cy="7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2"/>
              </a:lnSpc>
            </a:pPr>
            <a:r>
              <a:rPr lang="en-US" sz="3696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Livedo </a:t>
            </a:r>
            <a:r>
              <a:rPr lang="en-US" sz="3600" b="1" dirty="0" err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reticulari</a:t>
            </a:r>
            <a:endParaRPr lang="en-US" sz="3600" b="1" dirty="0">
              <a:solidFill>
                <a:srgbClr val="000000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772682" y="9176280"/>
            <a:ext cx="3278391" cy="90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sz="371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Telangiectasia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41029" y="3519368"/>
            <a:ext cx="3875014" cy="3674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6"/>
              </a:lnSpc>
            </a:pPr>
            <a:r>
              <a:rPr lang="en-US" sz="4115" b="1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Diseases that resemble livedoid vasculopathy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59780" y="2176986"/>
            <a:ext cx="6568440" cy="76200"/>
            <a:chOff x="0" y="0"/>
            <a:chExt cx="8757920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59780" y="8121787"/>
            <a:ext cx="6568440" cy="76200"/>
            <a:chOff x="0" y="0"/>
            <a:chExt cx="8757920" cy="101600"/>
          </a:xfrm>
        </p:grpSpPr>
        <p:sp>
          <p:nvSpPr>
            <p:cNvPr id="7" name="Freeform 7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84668" y="3062811"/>
            <a:ext cx="18457335" cy="3207868"/>
          </a:xfrm>
          <a:custGeom>
            <a:avLst/>
            <a:gdLst/>
            <a:ahLst/>
            <a:cxnLst/>
            <a:rect l="l" t="t" r="r" b="b"/>
            <a:pathLst>
              <a:path w="18457335" h="3207868">
                <a:moveTo>
                  <a:pt x="0" y="0"/>
                </a:moveTo>
                <a:lnTo>
                  <a:pt x="18457336" y="0"/>
                </a:lnTo>
                <a:lnTo>
                  <a:pt x="18457336" y="3207868"/>
                </a:lnTo>
                <a:lnTo>
                  <a:pt x="0" y="3207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3316195" y="3432000"/>
            <a:ext cx="11655609" cy="247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89"/>
              </a:lnSpc>
            </a:pPr>
            <a:r>
              <a:rPr lang="en-US" sz="9994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Literature Review</a:t>
            </a: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09A1DAE1-5F37-FB14-D639-6009D90987AE}"/>
              </a:ext>
            </a:extLst>
          </p:cNvPr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19C7B6FB-BA9F-1F20-AF06-19306DA132C3}"/>
              </a:ext>
            </a:extLst>
          </p:cNvPr>
          <p:cNvSpPr/>
          <p:nvPr/>
        </p:nvSpPr>
        <p:spPr>
          <a:xfrm>
            <a:off x="8304000" y="9045384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4795123"/>
            <a:ext cx="15662081" cy="76200"/>
            <a:chOff x="0" y="0"/>
            <a:chExt cx="20882775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20781138" cy="101600"/>
            </a:xfrm>
            <a:custGeom>
              <a:avLst/>
              <a:gdLst/>
              <a:ahLst/>
              <a:cxnLst/>
              <a:rect l="l" t="t" r="r" b="b"/>
              <a:pathLst>
                <a:path w="20781138" h="101600">
                  <a:moveTo>
                    <a:pt x="0" y="0"/>
                  </a:moveTo>
                  <a:lnTo>
                    <a:pt x="20781138" y="0"/>
                  </a:lnTo>
                  <a:lnTo>
                    <a:pt x="2078113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146279" y="3623300"/>
            <a:ext cx="76200" cy="1248023"/>
            <a:chOff x="0" y="0"/>
            <a:chExt cx="101600" cy="1664030"/>
          </a:xfrm>
        </p:grpSpPr>
        <p:sp>
          <p:nvSpPr>
            <p:cNvPr id="5" name="Freeform 5"/>
            <p:cNvSpPr/>
            <p:nvPr/>
          </p:nvSpPr>
          <p:spPr>
            <a:xfrm>
              <a:off x="0" y="50800"/>
              <a:ext cx="101600" cy="1562481"/>
            </a:xfrm>
            <a:custGeom>
              <a:avLst/>
              <a:gdLst/>
              <a:ahLst/>
              <a:cxnLst/>
              <a:rect l="l" t="t" r="r" b="b"/>
              <a:pathLst>
                <a:path w="101600" h="1562481">
                  <a:moveTo>
                    <a:pt x="0" y="1562481"/>
                  </a:moveTo>
                  <a:lnTo>
                    <a:pt x="0" y="0"/>
                  </a:lnTo>
                  <a:lnTo>
                    <a:pt x="101600" y="0"/>
                  </a:lnTo>
                  <a:lnTo>
                    <a:pt x="101600" y="1562481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53883" y="4795123"/>
            <a:ext cx="76200" cy="1248023"/>
            <a:chOff x="0" y="0"/>
            <a:chExt cx="101600" cy="1664030"/>
          </a:xfrm>
        </p:grpSpPr>
        <p:sp>
          <p:nvSpPr>
            <p:cNvPr id="7" name="Freeform 7"/>
            <p:cNvSpPr/>
            <p:nvPr/>
          </p:nvSpPr>
          <p:spPr>
            <a:xfrm>
              <a:off x="0" y="50800"/>
              <a:ext cx="101600" cy="1562481"/>
            </a:xfrm>
            <a:custGeom>
              <a:avLst/>
              <a:gdLst/>
              <a:ahLst/>
              <a:cxnLst/>
              <a:rect l="l" t="t" r="r" b="b"/>
              <a:pathLst>
                <a:path w="101600" h="1562481">
                  <a:moveTo>
                    <a:pt x="0" y="1562481"/>
                  </a:moveTo>
                  <a:lnTo>
                    <a:pt x="0" y="0"/>
                  </a:lnTo>
                  <a:lnTo>
                    <a:pt x="101600" y="0"/>
                  </a:lnTo>
                  <a:lnTo>
                    <a:pt x="101600" y="1562481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34238" y="3862969"/>
            <a:ext cx="76200" cy="1248023"/>
            <a:chOff x="0" y="0"/>
            <a:chExt cx="101600" cy="1664030"/>
          </a:xfrm>
        </p:grpSpPr>
        <p:sp>
          <p:nvSpPr>
            <p:cNvPr id="9" name="Freeform 9"/>
            <p:cNvSpPr/>
            <p:nvPr/>
          </p:nvSpPr>
          <p:spPr>
            <a:xfrm>
              <a:off x="0" y="50800"/>
              <a:ext cx="101600" cy="1562481"/>
            </a:xfrm>
            <a:custGeom>
              <a:avLst/>
              <a:gdLst/>
              <a:ahLst/>
              <a:cxnLst/>
              <a:rect l="l" t="t" r="r" b="b"/>
              <a:pathLst>
                <a:path w="101600" h="1562481">
                  <a:moveTo>
                    <a:pt x="0" y="1562481"/>
                  </a:moveTo>
                  <a:lnTo>
                    <a:pt x="0" y="0"/>
                  </a:lnTo>
                  <a:lnTo>
                    <a:pt x="101600" y="0"/>
                  </a:lnTo>
                  <a:lnTo>
                    <a:pt x="101600" y="1562481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485124" y="4795123"/>
            <a:ext cx="76200" cy="1248023"/>
            <a:chOff x="0" y="0"/>
            <a:chExt cx="101600" cy="1664030"/>
          </a:xfrm>
        </p:grpSpPr>
        <p:sp>
          <p:nvSpPr>
            <p:cNvPr id="11" name="Freeform 11"/>
            <p:cNvSpPr/>
            <p:nvPr/>
          </p:nvSpPr>
          <p:spPr>
            <a:xfrm>
              <a:off x="0" y="50800"/>
              <a:ext cx="101600" cy="1562481"/>
            </a:xfrm>
            <a:custGeom>
              <a:avLst/>
              <a:gdLst/>
              <a:ahLst/>
              <a:cxnLst/>
              <a:rect l="l" t="t" r="r" b="b"/>
              <a:pathLst>
                <a:path w="101600" h="1562481">
                  <a:moveTo>
                    <a:pt x="0" y="1562481"/>
                  </a:moveTo>
                  <a:lnTo>
                    <a:pt x="0" y="0"/>
                  </a:lnTo>
                  <a:lnTo>
                    <a:pt x="101600" y="0"/>
                  </a:lnTo>
                  <a:lnTo>
                    <a:pt x="101600" y="1562481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98878" y="4445586"/>
            <a:ext cx="830761" cy="844868"/>
            <a:chOff x="0" y="0"/>
            <a:chExt cx="1107681" cy="11264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07694" cy="1126490"/>
            </a:xfrm>
            <a:custGeom>
              <a:avLst/>
              <a:gdLst/>
              <a:ahLst/>
              <a:cxnLst/>
              <a:rect l="l" t="t" r="r" b="b"/>
              <a:pathLst>
                <a:path w="1107694" h="1126490">
                  <a:moveTo>
                    <a:pt x="0" y="0"/>
                  </a:moveTo>
                  <a:lnTo>
                    <a:pt x="1107694" y="0"/>
                  </a:lnTo>
                  <a:lnTo>
                    <a:pt x="1107694" y="1126490"/>
                  </a:lnTo>
                  <a:lnTo>
                    <a:pt x="0" y="1126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84" r="-148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23927" y="4410780"/>
            <a:ext cx="830761" cy="844868"/>
            <a:chOff x="0" y="0"/>
            <a:chExt cx="1107681" cy="11264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7694" cy="1126490"/>
            </a:xfrm>
            <a:custGeom>
              <a:avLst/>
              <a:gdLst/>
              <a:ahLst/>
              <a:cxnLst/>
              <a:rect l="l" t="t" r="r" b="b"/>
              <a:pathLst>
                <a:path w="1107694" h="1126490">
                  <a:moveTo>
                    <a:pt x="0" y="0"/>
                  </a:moveTo>
                  <a:lnTo>
                    <a:pt x="1107694" y="0"/>
                  </a:lnTo>
                  <a:lnTo>
                    <a:pt x="1107694" y="1126490"/>
                  </a:lnTo>
                  <a:lnTo>
                    <a:pt x="0" y="1126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84" r="-148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07838" y="4410780"/>
            <a:ext cx="830761" cy="844868"/>
            <a:chOff x="0" y="0"/>
            <a:chExt cx="1107681" cy="11264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07694" cy="1126490"/>
            </a:xfrm>
            <a:custGeom>
              <a:avLst/>
              <a:gdLst/>
              <a:ahLst/>
              <a:cxnLst/>
              <a:rect l="l" t="t" r="r" b="b"/>
              <a:pathLst>
                <a:path w="1107694" h="1126490">
                  <a:moveTo>
                    <a:pt x="0" y="0"/>
                  </a:moveTo>
                  <a:lnTo>
                    <a:pt x="1107694" y="0"/>
                  </a:lnTo>
                  <a:lnTo>
                    <a:pt x="1107694" y="1126490"/>
                  </a:lnTo>
                  <a:lnTo>
                    <a:pt x="0" y="1126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84" r="-148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11242" y="4486980"/>
            <a:ext cx="922182" cy="768668"/>
            <a:chOff x="0" y="0"/>
            <a:chExt cx="1229576" cy="10248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29614" cy="1024890"/>
            </a:xfrm>
            <a:custGeom>
              <a:avLst/>
              <a:gdLst/>
              <a:ahLst/>
              <a:cxnLst/>
              <a:rect l="l" t="t" r="r" b="b"/>
              <a:pathLst>
                <a:path w="1229614" h="1024890">
                  <a:moveTo>
                    <a:pt x="0" y="0"/>
                  </a:moveTo>
                  <a:lnTo>
                    <a:pt x="1229614" y="0"/>
                  </a:lnTo>
                  <a:lnTo>
                    <a:pt x="1229614" y="1024890"/>
                  </a:lnTo>
                  <a:lnTo>
                    <a:pt x="0" y="1024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44" r="3" b="-924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319674" y="4087359"/>
            <a:ext cx="437798" cy="149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sz="6058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0964" y="4111580"/>
            <a:ext cx="310629" cy="156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6286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46353" y="4122165"/>
            <a:ext cx="413271" cy="149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sz="6058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32756" y="3983698"/>
            <a:ext cx="503634" cy="1667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3"/>
              </a:lnSpc>
            </a:pPr>
            <a:r>
              <a:rPr lang="en-US" sz="6742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9848" y="-112405"/>
            <a:ext cx="7418861" cy="373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962" lvl="2" indent="-255654" algn="just">
              <a:lnSpc>
                <a:spcPts val="5703"/>
              </a:lnSpc>
              <a:buFont typeface="Arial"/>
              <a:buChar char="⚬"/>
            </a:pPr>
            <a:r>
              <a:rPr lang="en-US" sz="3354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2019–2021</a:t>
            </a:r>
          </a:p>
          <a:p>
            <a:pPr marL="766962" lvl="2" indent="-255654" algn="just">
              <a:lnSpc>
                <a:spcPts val="5703"/>
              </a:lnSpc>
            </a:pPr>
            <a:r>
              <a:rPr lang="en-US" sz="3354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AI models (like CNNs) started matching dermatologists in spotting common skin diseases like melanoma. </a:t>
            </a:r>
            <a:r>
              <a:rPr lang="en-US" sz="3354">
                <a:solidFill>
                  <a:srgbClr val="5170FF"/>
                </a:solidFill>
                <a:latin typeface="Quicksand"/>
                <a:ea typeface="Quicksand"/>
                <a:cs typeface="Quicksand"/>
                <a:sym typeface="Quicksand"/>
              </a:rPr>
              <a:t>[1]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26136" y="5681196"/>
            <a:ext cx="7785106" cy="450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812" lvl="2" indent="-260604" algn="just">
              <a:lnSpc>
                <a:spcPts val="5814"/>
              </a:lnSpc>
              <a:buFont typeface="Arial"/>
              <a:buChar char="⚬"/>
            </a:pPr>
            <a:r>
              <a:rPr lang="en-US" sz="342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2022</a:t>
            </a:r>
          </a:p>
          <a:p>
            <a:pPr marL="781812" lvl="2" indent="-260604" algn="just">
              <a:lnSpc>
                <a:spcPts val="5814"/>
              </a:lnSpc>
            </a:pPr>
            <a:r>
              <a:rPr lang="en-US" sz="342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New AI systems began combining images with patient info (like age, symptoms, lab results). This made diagnosis 15–23% more accurate than using images alone. </a:t>
            </a:r>
            <a:r>
              <a:rPr lang="en-US" sz="3420">
                <a:solidFill>
                  <a:srgbClr val="5170FF"/>
                </a:solidFill>
                <a:latin typeface="Quicksand"/>
                <a:ea typeface="Quicksand"/>
                <a:cs typeface="Quicksand"/>
                <a:sym typeface="Quicksand"/>
              </a:rPr>
              <a:t>[2]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9968" y="-112595"/>
            <a:ext cx="7860992" cy="377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812" lvl="2" indent="-260604" algn="just">
              <a:lnSpc>
                <a:spcPts val="5814"/>
              </a:lnSpc>
              <a:buFont typeface="Arial"/>
              <a:buChar char="⚬"/>
            </a:pPr>
            <a:r>
              <a:rPr lang="en-US" sz="342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2023</a:t>
            </a:r>
          </a:p>
          <a:p>
            <a:pPr marL="781812" lvl="2" indent="-260604" algn="just">
              <a:lnSpc>
                <a:spcPts val="5814"/>
              </a:lnSpc>
            </a:pPr>
            <a:r>
              <a:rPr lang="en-US" sz="342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Explainable AI became popular. These models show doctors what parts of the image they focused on—making it easier to trust the results. </a:t>
            </a:r>
            <a:r>
              <a:rPr lang="en-US" sz="3420">
                <a:solidFill>
                  <a:srgbClr val="5170FF"/>
                </a:solidFill>
                <a:latin typeface="Quicksand"/>
                <a:ea typeface="Quicksand"/>
                <a:cs typeface="Quicksand"/>
                <a:sym typeface="Quicksand"/>
              </a:rPr>
              <a:t>[3]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34209" y="5651021"/>
            <a:ext cx="7256669" cy="450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812" lvl="2" indent="-260604" algn="just">
              <a:lnSpc>
                <a:spcPts val="5814"/>
              </a:lnSpc>
              <a:buFont typeface="Arial"/>
              <a:buChar char="⚬"/>
            </a:pPr>
            <a:r>
              <a:rPr lang="en-US" sz="3420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2024</a:t>
            </a:r>
          </a:p>
          <a:p>
            <a:pPr marL="781812" lvl="2" indent="-260604" algn="just">
              <a:lnSpc>
                <a:spcPts val="5814"/>
              </a:lnSpc>
            </a:pPr>
            <a:r>
              <a:rPr lang="en-US" sz="342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 major gap was found: no AI tools were built for rare skin diseases like livedoid vasculopathy, even though the technology is ready and proven. </a:t>
            </a:r>
            <a:r>
              <a:rPr lang="en-US" sz="3420">
                <a:solidFill>
                  <a:srgbClr val="5170FF"/>
                </a:solidFill>
                <a:latin typeface="Quicksand"/>
                <a:ea typeface="Quicksand"/>
                <a:cs typeface="Quicksand"/>
                <a:sym typeface="Quicksand"/>
              </a:rPr>
              <a:t>[4]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481" y="1"/>
            <a:ext cx="19240519" cy="10382154"/>
            <a:chOff x="0" y="0"/>
            <a:chExt cx="15068347" cy="84759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68296" cy="8475980"/>
            </a:xfrm>
            <a:custGeom>
              <a:avLst/>
              <a:gdLst/>
              <a:ahLst/>
              <a:cxnLst/>
              <a:rect l="l" t="t" r="r" b="b"/>
              <a:pathLst>
                <a:path w="15068296" h="8475980">
                  <a:moveTo>
                    <a:pt x="0" y="0"/>
                  </a:moveTo>
                  <a:lnTo>
                    <a:pt x="15068296" y="0"/>
                  </a:lnTo>
                  <a:lnTo>
                    <a:pt x="15068296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16200" y="0"/>
            <a:ext cx="3492856" cy="10287000"/>
            <a:chOff x="0" y="0"/>
            <a:chExt cx="4657141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57090" cy="13716000"/>
            </a:xfrm>
            <a:custGeom>
              <a:avLst/>
              <a:gdLst/>
              <a:ahLst/>
              <a:cxnLst/>
              <a:rect l="l" t="t" r="r" b="b"/>
              <a:pathLst>
                <a:path w="4657090" h="13716000">
                  <a:moveTo>
                    <a:pt x="0" y="0"/>
                  </a:moveTo>
                  <a:lnTo>
                    <a:pt x="4657090" y="0"/>
                  </a:lnTo>
                  <a:lnTo>
                    <a:pt x="465709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8172" r="-4817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19800" y="10660190"/>
            <a:ext cx="12671241" cy="198310"/>
            <a:chOff x="0" y="0"/>
            <a:chExt cx="16894988" cy="264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16894938" cy="264414"/>
            </a:xfrm>
            <a:custGeom>
              <a:avLst/>
              <a:gdLst/>
              <a:ahLst/>
              <a:cxnLst/>
              <a:rect l="l" t="t" r="r" b="b"/>
              <a:pathLst>
                <a:path w="16894938" h="264414">
                  <a:moveTo>
                    <a:pt x="0" y="0"/>
                  </a:moveTo>
                  <a:lnTo>
                    <a:pt x="16894938" y="0"/>
                  </a:lnTo>
                  <a:lnTo>
                    <a:pt x="16894938" y="264414"/>
                  </a:lnTo>
                  <a:lnTo>
                    <a:pt x="0" y="264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742195" b="-474219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041" y="57150"/>
            <a:ext cx="89459" cy="10267950"/>
            <a:chOff x="0" y="0"/>
            <a:chExt cx="119278" cy="13690600"/>
          </a:xfrm>
        </p:grpSpPr>
        <p:sp>
          <p:nvSpPr>
            <p:cNvPr id="11" name="Freeform 11"/>
            <p:cNvSpPr/>
            <p:nvPr/>
          </p:nvSpPr>
          <p:spPr>
            <a:xfrm>
              <a:off x="0" y="50673"/>
              <a:ext cx="119253" cy="13589127"/>
            </a:xfrm>
            <a:custGeom>
              <a:avLst/>
              <a:gdLst/>
              <a:ahLst/>
              <a:cxnLst/>
              <a:rect l="l" t="t" r="r" b="b"/>
              <a:pathLst>
                <a:path w="119253" h="13589127">
                  <a:moveTo>
                    <a:pt x="101600" y="0"/>
                  </a:moveTo>
                  <a:lnTo>
                    <a:pt x="119253" y="13589000"/>
                  </a:lnTo>
                  <a:lnTo>
                    <a:pt x="17653" y="13589127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5036" y="-180823"/>
            <a:ext cx="18503036" cy="10467823"/>
          </a:xfrm>
          <a:custGeom>
            <a:avLst/>
            <a:gdLst/>
            <a:ahLst/>
            <a:cxnLst/>
            <a:rect l="l" t="t" r="r" b="b"/>
            <a:pathLst>
              <a:path w="18503036" h="10467823">
                <a:moveTo>
                  <a:pt x="0" y="0"/>
                </a:moveTo>
                <a:lnTo>
                  <a:pt x="18503036" y="0"/>
                </a:lnTo>
                <a:lnTo>
                  <a:pt x="18503036" y="10467823"/>
                </a:lnTo>
                <a:lnTo>
                  <a:pt x="0" y="10467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240487" y="1371162"/>
            <a:ext cx="17807026" cy="993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555" lvl="2" indent="-289518" algn="just">
              <a:lnSpc>
                <a:spcPts val="6459"/>
              </a:lnSpc>
              <a:buFont typeface="Arial"/>
              <a:buChar char="⚬"/>
            </a:pPr>
            <a:r>
              <a:rPr lang="en-US" sz="3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Limited Availability of Livedoid Vasculopathy Datasets</a:t>
            </a:r>
          </a:p>
          <a:p>
            <a:pPr marL="868555" lvl="2" indent="-289518" algn="just">
              <a:lnSpc>
                <a:spcPts val="6459"/>
              </a:lnSpc>
            </a:pPr>
            <a:r>
              <a:rPr lang="en-US" sz="3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There is no large, standardized, or public dataset for LV images or clinical data, making AI training difficult.</a:t>
            </a:r>
            <a:r>
              <a:rPr lang="en-US" sz="3799">
                <a:solidFill>
                  <a:srgbClr val="5170FF"/>
                </a:solidFill>
                <a:latin typeface="Quicksand"/>
                <a:ea typeface="Quicksand"/>
                <a:cs typeface="Quicksand"/>
                <a:sym typeface="Quicksand"/>
              </a:rPr>
              <a:t> [5]</a:t>
            </a:r>
          </a:p>
          <a:p>
            <a:pPr marL="868555" lvl="2" indent="-289518" algn="just">
              <a:lnSpc>
                <a:spcPts val="6459"/>
              </a:lnSpc>
              <a:buFont typeface="Arial"/>
              <a:buChar char="⚬"/>
            </a:pPr>
            <a:r>
              <a:rPr lang="en-US" sz="3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Lack of Multimodal Integration</a:t>
            </a:r>
          </a:p>
          <a:p>
            <a:pPr marL="868555" lvl="2" indent="-289518" algn="just">
              <a:lnSpc>
                <a:spcPts val="6459"/>
              </a:lnSpc>
            </a:pPr>
            <a:r>
              <a:rPr lang="en-US" sz="3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Existing dermatology AI models rely mostly on image-only inputs, while LV diagnosis requires clinical, histopathological, and patient-level data integration. </a:t>
            </a:r>
            <a:r>
              <a:rPr lang="en-US" sz="3799">
                <a:solidFill>
                  <a:srgbClr val="5170FF"/>
                </a:solidFill>
                <a:latin typeface="Quicksand"/>
                <a:ea typeface="Quicksand"/>
                <a:cs typeface="Quicksand"/>
                <a:sym typeface="Quicksand"/>
              </a:rPr>
              <a:t>[6]</a:t>
            </a:r>
          </a:p>
          <a:p>
            <a:pPr marL="868555" lvl="2" indent="-289518" algn="just">
              <a:lnSpc>
                <a:spcPts val="6459"/>
              </a:lnSpc>
              <a:buFont typeface="Arial"/>
              <a:buChar char="⚬"/>
            </a:pPr>
            <a:r>
              <a:rPr lang="en-US" sz="3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799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Poor Generalization Across Devices, Skin Tones, and Institutions</a:t>
            </a:r>
          </a:p>
          <a:p>
            <a:pPr marL="868555" lvl="2" indent="-289518" algn="just">
              <a:lnSpc>
                <a:spcPts val="6459"/>
              </a:lnSpc>
            </a:pPr>
            <a:r>
              <a:rPr lang="en-US" sz="3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AI models in dermatology often fail to generalize due to domain shifts, lighting variations, and bias toward lighter skin types</a:t>
            </a:r>
            <a:r>
              <a:rPr lang="en-US" sz="3799">
                <a:solidFill>
                  <a:srgbClr val="5170FF"/>
                </a:solidFill>
                <a:latin typeface="Quicksand"/>
                <a:ea typeface="Quicksand"/>
                <a:cs typeface="Quicksand"/>
                <a:sym typeface="Quicksand"/>
              </a:rPr>
              <a:t>.[7]</a:t>
            </a:r>
          </a:p>
          <a:p>
            <a:pPr marL="868555" lvl="2" indent="-289518" algn="just">
              <a:lnSpc>
                <a:spcPts val="5791"/>
              </a:lnSpc>
            </a:pPr>
            <a:endParaRPr lang="en-US" sz="3799">
              <a:solidFill>
                <a:srgbClr val="5170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868555" lvl="2" indent="-289518" algn="just">
              <a:lnSpc>
                <a:spcPts val="5791"/>
              </a:lnSpc>
            </a:pPr>
            <a:endParaRPr lang="en-US" sz="3799">
              <a:solidFill>
                <a:srgbClr val="5170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324794" y="-64089"/>
            <a:ext cx="8963206" cy="1480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33"/>
              </a:lnSpc>
            </a:pPr>
            <a:r>
              <a:rPr lang="en-US" sz="7431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Research Gaps</a:t>
            </a: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645EA2DC-FF89-2E40-FC2B-32C8C78A53F2}"/>
              </a:ext>
            </a:extLst>
          </p:cNvPr>
          <p:cNvSpPr/>
          <p:nvPr/>
        </p:nvSpPr>
        <p:spPr>
          <a:xfrm>
            <a:off x="7259147" y="72621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8545A538-AA82-44E2-3380-B10C619461D9}"/>
              </a:ext>
            </a:extLst>
          </p:cNvPr>
          <p:cNvSpPr/>
          <p:nvPr/>
        </p:nvSpPr>
        <p:spPr>
          <a:xfrm>
            <a:off x="16413327" y="67627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58822" y="5710813"/>
            <a:ext cx="4953000" cy="4133278"/>
            <a:chOff x="0" y="130331"/>
            <a:chExt cx="6604000" cy="5511038"/>
          </a:xfrm>
        </p:grpSpPr>
        <p:sp>
          <p:nvSpPr>
            <p:cNvPr id="3" name="Freeform 3"/>
            <p:cNvSpPr/>
            <p:nvPr/>
          </p:nvSpPr>
          <p:spPr>
            <a:xfrm>
              <a:off x="0" y="130331"/>
              <a:ext cx="6604000" cy="5511038"/>
            </a:xfrm>
            <a:custGeom>
              <a:avLst/>
              <a:gdLst/>
              <a:ahLst/>
              <a:cxnLst/>
              <a:rect l="l" t="t" r="r" b="b"/>
              <a:pathLst>
                <a:path w="6604000" h="5511038">
                  <a:moveTo>
                    <a:pt x="142621" y="0"/>
                  </a:moveTo>
                  <a:lnTo>
                    <a:pt x="6461379" y="0"/>
                  </a:lnTo>
                  <a:cubicBezTo>
                    <a:pt x="6540119" y="0"/>
                    <a:pt x="6604000" y="65024"/>
                    <a:pt x="6604000" y="145288"/>
                  </a:cubicBezTo>
                  <a:lnTo>
                    <a:pt x="6604000" y="5365750"/>
                  </a:lnTo>
                  <a:cubicBezTo>
                    <a:pt x="6604000" y="5446014"/>
                    <a:pt x="6540119" y="5511038"/>
                    <a:pt x="6461379" y="5511038"/>
                  </a:cubicBezTo>
                  <a:lnTo>
                    <a:pt x="142621" y="5511038"/>
                  </a:lnTo>
                  <a:cubicBezTo>
                    <a:pt x="104775" y="5511038"/>
                    <a:pt x="68453" y="5495798"/>
                    <a:pt x="41783" y="5468493"/>
                  </a:cubicBezTo>
                  <a:cubicBezTo>
                    <a:pt x="15113" y="5441188"/>
                    <a:pt x="0" y="5404231"/>
                    <a:pt x="0" y="5365750"/>
                  </a:cubicBezTo>
                  <a:lnTo>
                    <a:pt x="0" y="145288"/>
                  </a:lnTo>
                  <a:cubicBezTo>
                    <a:pt x="0" y="65024"/>
                    <a:pt x="63881" y="0"/>
                    <a:pt x="142621" y="0"/>
                  </a:cubicBezTo>
                  <a:close/>
                </a:path>
              </a:pathLst>
            </a:custGeom>
            <a:solidFill>
              <a:srgbClr val="DBE5EA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604985" y="5293818"/>
            <a:ext cx="5399923" cy="4509449"/>
          </a:xfrm>
          <a:custGeom>
            <a:avLst/>
            <a:gdLst/>
            <a:ahLst/>
            <a:cxnLst/>
            <a:rect l="l" t="t" r="r" b="b"/>
            <a:pathLst>
              <a:path w="5399923" h="4509449">
                <a:moveTo>
                  <a:pt x="0" y="0"/>
                </a:moveTo>
                <a:lnTo>
                  <a:pt x="5399923" y="0"/>
                </a:lnTo>
                <a:lnTo>
                  <a:pt x="5399923" y="4509449"/>
                </a:lnTo>
                <a:lnTo>
                  <a:pt x="0" y="4509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6381340" y="5391445"/>
            <a:ext cx="4718323" cy="4417838"/>
          </a:xfrm>
          <a:custGeom>
            <a:avLst/>
            <a:gdLst/>
            <a:ahLst/>
            <a:cxnLst/>
            <a:rect l="l" t="t" r="r" b="b"/>
            <a:pathLst>
              <a:path w="4718323" h="4417838">
                <a:moveTo>
                  <a:pt x="0" y="0"/>
                </a:moveTo>
                <a:lnTo>
                  <a:pt x="4718323" y="0"/>
                </a:lnTo>
                <a:lnTo>
                  <a:pt x="4718323" y="4417838"/>
                </a:lnTo>
                <a:lnTo>
                  <a:pt x="0" y="4417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11425476" y="247802"/>
            <a:ext cx="6568440" cy="76200"/>
            <a:chOff x="0" y="0"/>
            <a:chExt cx="8757920" cy="101600"/>
          </a:xfrm>
        </p:grpSpPr>
        <p:sp>
          <p:nvSpPr>
            <p:cNvPr id="11" name="Freeform 11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43144" y="4100655"/>
            <a:ext cx="6861924" cy="157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8"/>
              </a:lnSpc>
            </a:pPr>
            <a:r>
              <a:rPr lang="en-US" sz="4999" b="1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Project Objectives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9152" y="6692445"/>
            <a:ext cx="4651590" cy="2818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689"/>
              </a:lnSpc>
            </a:pP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Build a multimodal AI model to detect Livedoid Vasculopathy using images and clinical data.</a:t>
            </a:r>
          </a:p>
          <a:p>
            <a:pPr algn="just">
              <a:lnSpc>
                <a:spcPts val="5689"/>
              </a:lnSpc>
            </a:pPr>
            <a:endParaRPr lang="en-US" sz="2499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30276" y="6725307"/>
            <a:ext cx="4024112" cy="3065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95"/>
              </a:lnSpc>
            </a:pPr>
            <a:r>
              <a:rPr lang="en-US" sz="24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To evaluate algorithms for differentiating it from similar conditions.</a:t>
            </a:r>
          </a:p>
          <a:p>
            <a:pPr algn="just">
              <a:lnSpc>
                <a:spcPts val="5695"/>
              </a:lnSpc>
            </a:pPr>
            <a:endParaRPr lang="en-US" sz="2499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754380" y="9982200"/>
            <a:ext cx="6568440" cy="76200"/>
            <a:chOff x="0" y="0"/>
            <a:chExt cx="8757920" cy="101600"/>
          </a:xfrm>
        </p:grpSpPr>
        <p:sp>
          <p:nvSpPr>
            <p:cNvPr id="16" name="Freeform 16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850262" y="6884040"/>
            <a:ext cx="4770120" cy="170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To assess the reliability of AI in clinical diagnosis.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3144" y="341776"/>
            <a:ext cx="8961120" cy="151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8"/>
              </a:lnSpc>
            </a:pPr>
            <a:r>
              <a:rPr lang="en-US" sz="4999" b="1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Problem Statement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6865" y="1429874"/>
            <a:ext cx="15504957" cy="271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49"/>
              </a:lnSpc>
            </a:pPr>
            <a:r>
              <a:rPr lang="en-US" sz="24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Accurate diagnosis of Livedoid Vasculopathy is challenging due to limited datasets, visual overlap with similar diseases, and lack of AI-based tools. Existing methods are subjective and time-consuming, highlighting the need for an automated, explainable, and multimodal AI diagnostic framework.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046258D2-302D-CC07-C992-063A6FF2B570}"/>
              </a:ext>
            </a:extLst>
          </p:cNvPr>
          <p:cNvSpPr/>
          <p:nvPr/>
        </p:nvSpPr>
        <p:spPr>
          <a:xfrm>
            <a:off x="9504264" y="193728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EB642C55-89FE-A5BC-074C-59C3B8D08024}"/>
              </a:ext>
            </a:extLst>
          </p:cNvPr>
          <p:cNvSpPr/>
          <p:nvPr/>
        </p:nvSpPr>
        <p:spPr>
          <a:xfrm>
            <a:off x="7464003" y="988352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1CBAA6EF-DA36-F647-FB43-3AA0A00E7EE4}"/>
              </a:ext>
            </a:extLst>
          </p:cNvPr>
          <p:cNvSpPr/>
          <p:nvPr/>
        </p:nvSpPr>
        <p:spPr>
          <a:xfrm>
            <a:off x="3118014" y="5838952"/>
            <a:ext cx="920586" cy="1016820"/>
          </a:xfrm>
          <a:custGeom>
            <a:avLst/>
            <a:gdLst/>
            <a:ahLst/>
            <a:cxnLst/>
            <a:rect l="l" t="t" r="r" b="b"/>
            <a:pathLst>
              <a:path w="1287370" h="1287370">
                <a:moveTo>
                  <a:pt x="0" y="0"/>
                </a:moveTo>
                <a:lnTo>
                  <a:pt x="1287370" y="0"/>
                </a:lnTo>
                <a:lnTo>
                  <a:pt x="1287370" y="1287369"/>
                </a:lnTo>
                <a:lnTo>
                  <a:pt x="0" y="1287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87F68AEC-E95E-8869-7A90-691599148F63}"/>
              </a:ext>
            </a:extLst>
          </p:cNvPr>
          <p:cNvSpPr/>
          <p:nvPr/>
        </p:nvSpPr>
        <p:spPr>
          <a:xfrm>
            <a:off x="8137850" y="5710813"/>
            <a:ext cx="1008964" cy="1018071"/>
          </a:xfrm>
          <a:custGeom>
            <a:avLst/>
            <a:gdLst/>
            <a:ahLst/>
            <a:cxnLst/>
            <a:rect l="l" t="t" r="r" b="b"/>
            <a:pathLst>
              <a:path w="1244462" h="1260505">
                <a:moveTo>
                  <a:pt x="0" y="0"/>
                </a:moveTo>
                <a:lnTo>
                  <a:pt x="1244462" y="0"/>
                </a:lnTo>
                <a:lnTo>
                  <a:pt x="1244462" y="1260505"/>
                </a:lnTo>
                <a:lnTo>
                  <a:pt x="0" y="1260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3E0F360C-400A-4759-2B32-D00AF25A09DF}"/>
              </a:ext>
            </a:extLst>
          </p:cNvPr>
          <p:cNvSpPr/>
          <p:nvPr/>
        </p:nvSpPr>
        <p:spPr>
          <a:xfrm>
            <a:off x="13972927" y="5838952"/>
            <a:ext cx="920586" cy="1016820"/>
          </a:xfrm>
          <a:custGeom>
            <a:avLst/>
            <a:gdLst/>
            <a:ahLst/>
            <a:cxnLst/>
            <a:rect l="l" t="t" r="r" b="b"/>
            <a:pathLst>
              <a:path w="1287370" h="1287370">
                <a:moveTo>
                  <a:pt x="0" y="0"/>
                </a:moveTo>
                <a:lnTo>
                  <a:pt x="1287370" y="0"/>
                </a:lnTo>
                <a:lnTo>
                  <a:pt x="1287370" y="1287369"/>
                </a:lnTo>
                <a:lnTo>
                  <a:pt x="0" y="1287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4289" y="-2105957"/>
            <a:ext cx="19424477" cy="3375956"/>
          </a:xfrm>
          <a:custGeom>
            <a:avLst/>
            <a:gdLst/>
            <a:ahLst/>
            <a:cxnLst/>
            <a:rect l="l" t="t" r="r" b="b"/>
            <a:pathLst>
              <a:path w="19424477" h="3375956">
                <a:moveTo>
                  <a:pt x="0" y="0"/>
                </a:moveTo>
                <a:lnTo>
                  <a:pt x="19424476" y="0"/>
                </a:lnTo>
                <a:lnTo>
                  <a:pt x="19424476" y="3375956"/>
                </a:lnTo>
                <a:lnTo>
                  <a:pt x="0" y="3375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534861" y="-37852"/>
            <a:ext cx="12650391" cy="149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55"/>
              </a:lnSpc>
            </a:pPr>
            <a:r>
              <a:rPr lang="en-US" sz="4999" b="1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FLOWCHART (SYSTEM PIPELINE)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71243" y="2298209"/>
            <a:ext cx="6900824" cy="7887190"/>
            <a:chOff x="0" y="0"/>
            <a:chExt cx="6832012" cy="7808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32012" cy="7808618"/>
            </a:xfrm>
            <a:custGeom>
              <a:avLst/>
              <a:gdLst/>
              <a:ahLst/>
              <a:cxnLst/>
              <a:rect l="l" t="t" r="r" b="b"/>
              <a:pathLst>
                <a:path w="6832012" h="7808618">
                  <a:moveTo>
                    <a:pt x="147545" y="0"/>
                  </a:moveTo>
                  <a:lnTo>
                    <a:pt x="6684466" y="0"/>
                  </a:lnTo>
                  <a:cubicBezTo>
                    <a:pt x="6765925" y="0"/>
                    <a:pt x="6832012" y="92133"/>
                    <a:pt x="6832012" y="205860"/>
                  </a:cubicBezTo>
                  <a:lnTo>
                    <a:pt x="6832012" y="7602790"/>
                  </a:lnTo>
                  <a:cubicBezTo>
                    <a:pt x="6832012" y="7716517"/>
                    <a:pt x="6765925" y="7808618"/>
                    <a:pt x="6684466" y="7808618"/>
                  </a:cubicBezTo>
                  <a:lnTo>
                    <a:pt x="147545" y="7808618"/>
                  </a:lnTo>
                  <a:cubicBezTo>
                    <a:pt x="108392" y="7808618"/>
                    <a:pt x="70816" y="7787056"/>
                    <a:pt x="43226" y="7748367"/>
                  </a:cubicBezTo>
                  <a:cubicBezTo>
                    <a:pt x="15635" y="7709679"/>
                    <a:pt x="0" y="7657314"/>
                    <a:pt x="0" y="7602790"/>
                  </a:cubicBezTo>
                  <a:lnTo>
                    <a:pt x="0" y="205860"/>
                  </a:lnTo>
                  <a:cubicBezTo>
                    <a:pt x="0" y="92133"/>
                    <a:pt x="66087" y="0"/>
                    <a:pt x="147545" y="0"/>
                  </a:cubicBezTo>
                  <a:close/>
                </a:path>
              </a:pathLst>
            </a:custGeom>
            <a:solidFill>
              <a:srgbClr val="DBE5EA"/>
            </a:solidFill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47650" y="1269999"/>
          <a:ext cx="17792700" cy="8915400"/>
        </p:xfrm>
        <a:graphic>
          <a:graphicData uri="http://schemas.openxmlformats.org/drawingml/2006/table">
            <a:tbl>
              <a:tblPr/>
              <a:tblGrid>
                <a:gridCol w="1365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4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2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S.NO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STEPS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WORK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Data Collection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~30 personal images, no Kaggle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Preprocessing 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Hair removal + resize + normalize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3.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Augmentation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30 images → 200 total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4.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Feature Extraction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Canny, LBP, HOG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5.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Feature Selection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PCA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6.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Model Training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MobileNetV2 + 3 variants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7.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Evaluation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Confusion Matrix, ROC, Grad-CAM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8.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Output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LV_like or Other + confidence %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65000" y="9914096"/>
            <a:ext cx="6568440" cy="76200"/>
            <a:chOff x="0" y="0"/>
            <a:chExt cx="8757920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28718" y="-118283"/>
            <a:ext cx="18288000" cy="1333784"/>
          </a:xfrm>
          <a:custGeom>
            <a:avLst/>
            <a:gdLst/>
            <a:ahLst/>
            <a:cxnLst/>
            <a:rect l="l" t="t" r="r" b="b"/>
            <a:pathLst>
              <a:path w="18807040" h="3268646">
                <a:moveTo>
                  <a:pt x="0" y="0"/>
                </a:moveTo>
                <a:lnTo>
                  <a:pt x="18807040" y="0"/>
                </a:lnTo>
                <a:lnTo>
                  <a:pt x="18807040" y="3268646"/>
                </a:lnTo>
                <a:lnTo>
                  <a:pt x="0" y="3268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7" name="Group 7"/>
          <p:cNvGrpSpPr/>
          <p:nvPr/>
        </p:nvGrpSpPr>
        <p:grpSpPr>
          <a:xfrm>
            <a:off x="1598200" y="9914096"/>
            <a:ext cx="6568440" cy="76200"/>
            <a:chOff x="0" y="0"/>
            <a:chExt cx="8757920" cy="101600"/>
          </a:xfrm>
        </p:grpSpPr>
        <p:sp>
          <p:nvSpPr>
            <p:cNvPr id="8" name="Freeform 8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9233" y="1527611"/>
            <a:ext cx="8873523" cy="3100987"/>
            <a:chOff x="0" y="0"/>
            <a:chExt cx="11679581" cy="38965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679531" cy="3896512"/>
            </a:xfrm>
            <a:custGeom>
              <a:avLst/>
              <a:gdLst/>
              <a:ahLst/>
              <a:cxnLst/>
              <a:rect l="l" t="t" r="r" b="b"/>
              <a:pathLst>
                <a:path w="11679531" h="3896512">
                  <a:moveTo>
                    <a:pt x="0" y="0"/>
                  </a:moveTo>
                  <a:lnTo>
                    <a:pt x="11679531" y="0"/>
                  </a:lnTo>
                  <a:lnTo>
                    <a:pt x="11679531" y="3896512"/>
                  </a:lnTo>
                  <a:lnTo>
                    <a:pt x="0" y="3896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8021" b="-9802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87111" y="1554380"/>
            <a:ext cx="8387263" cy="3047407"/>
            <a:chOff x="0" y="0"/>
            <a:chExt cx="13748436" cy="42544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48386" cy="4254405"/>
            </a:xfrm>
            <a:custGeom>
              <a:avLst/>
              <a:gdLst/>
              <a:ahLst/>
              <a:cxnLst/>
              <a:rect l="l" t="t" r="r" b="b"/>
              <a:pathLst>
                <a:path w="13748386" h="4254405">
                  <a:moveTo>
                    <a:pt x="0" y="0"/>
                  </a:moveTo>
                  <a:lnTo>
                    <a:pt x="13748386" y="0"/>
                  </a:lnTo>
                  <a:lnTo>
                    <a:pt x="13748386" y="4254405"/>
                  </a:lnTo>
                  <a:lnTo>
                    <a:pt x="0" y="4254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9583" b="-10958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Freeform 19"/>
          <p:cNvSpPr/>
          <p:nvPr/>
        </p:nvSpPr>
        <p:spPr>
          <a:xfrm>
            <a:off x="423058" y="1489262"/>
            <a:ext cx="8749698" cy="3139335"/>
          </a:xfrm>
          <a:custGeom>
            <a:avLst/>
            <a:gdLst/>
            <a:ahLst/>
            <a:cxnLst/>
            <a:rect l="l" t="t" r="r" b="b"/>
            <a:pathLst>
              <a:path w="9047264" h="3139335">
                <a:moveTo>
                  <a:pt x="0" y="0"/>
                </a:moveTo>
                <a:lnTo>
                  <a:pt x="9047264" y="0"/>
                </a:lnTo>
                <a:lnTo>
                  <a:pt x="9047264" y="3139336"/>
                </a:lnTo>
                <a:lnTo>
                  <a:pt x="0" y="3139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57" t="-23891" r="-2737" b="-19829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299233" y="1527571"/>
            <a:ext cx="8873523" cy="3051762"/>
          </a:xfrm>
          <a:custGeom>
            <a:avLst/>
            <a:gdLst/>
            <a:ahLst/>
            <a:cxnLst/>
            <a:rect l="l" t="t" r="r" b="b"/>
            <a:pathLst>
              <a:path w="9294914" h="3139335">
                <a:moveTo>
                  <a:pt x="0" y="0"/>
                </a:moveTo>
                <a:lnTo>
                  <a:pt x="9294914" y="0"/>
                </a:lnTo>
                <a:lnTo>
                  <a:pt x="9294914" y="3139336"/>
                </a:lnTo>
                <a:lnTo>
                  <a:pt x="0" y="31393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577" b="-6375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9317781" y="1527571"/>
            <a:ext cx="8456562" cy="3051763"/>
            <a:chOff x="0" y="0"/>
            <a:chExt cx="12183933" cy="37267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183918" cy="3726674"/>
            </a:xfrm>
            <a:custGeom>
              <a:avLst/>
              <a:gdLst/>
              <a:ahLst/>
              <a:cxnLst/>
              <a:rect l="l" t="t" r="r" b="b"/>
              <a:pathLst>
                <a:path w="12183918" h="3726674">
                  <a:moveTo>
                    <a:pt x="0" y="0"/>
                  </a:moveTo>
                  <a:lnTo>
                    <a:pt x="12183918" y="0"/>
                  </a:lnTo>
                  <a:lnTo>
                    <a:pt x="12183918" y="3726674"/>
                  </a:lnTo>
                  <a:lnTo>
                    <a:pt x="0" y="3726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4435" b="-75610"/>
              </a:stretch>
            </a:blipFill>
          </p:spPr>
          <p:txBody>
            <a:bodyPr/>
            <a:lstStyle/>
            <a:p>
              <a:pPr algn="just"/>
              <a:endParaRPr lang="en-IN" dirty="0"/>
            </a:p>
          </p:txBody>
        </p:sp>
      </p:grpSp>
      <p:sp>
        <p:nvSpPr>
          <p:cNvPr id="23" name="Freeform 23"/>
          <p:cNvSpPr/>
          <p:nvPr/>
        </p:nvSpPr>
        <p:spPr>
          <a:xfrm>
            <a:off x="5105400" y="5367685"/>
            <a:ext cx="9220200" cy="3556419"/>
          </a:xfrm>
          <a:custGeom>
            <a:avLst/>
            <a:gdLst/>
            <a:ahLst/>
            <a:cxnLst/>
            <a:rect l="l" t="t" r="r" b="b"/>
            <a:pathLst>
              <a:path w="11301259" h="3743542">
                <a:moveTo>
                  <a:pt x="0" y="0"/>
                </a:moveTo>
                <a:lnTo>
                  <a:pt x="11301259" y="0"/>
                </a:lnTo>
                <a:lnTo>
                  <a:pt x="11301259" y="3743542"/>
                </a:lnTo>
                <a:lnTo>
                  <a:pt x="0" y="37435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4" name="TextBox 24"/>
          <p:cNvSpPr txBox="1"/>
          <p:nvPr/>
        </p:nvSpPr>
        <p:spPr>
          <a:xfrm>
            <a:off x="513626" y="1473093"/>
            <a:ext cx="8550910" cy="3347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592"/>
              </a:lnSpc>
            </a:pPr>
            <a:r>
              <a:rPr lang="en-US" sz="2594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Dataset:</a:t>
            </a:r>
          </a:p>
          <a:p>
            <a:pPr marL="539780" lvl="1" indent="-269890" algn="just">
              <a:lnSpc>
                <a:spcPts val="4425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~30 personal clinically verified images</a:t>
            </a:r>
          </a:p>
          <a:p>
            <a:pPr marL="539780" lvl="1" indent="-269890" algn="just">
              <a:lnSpc>
                <a:spcPts val="4425"/>
              </a:lnSpc>
              <a:buFont typeface="Arial"/>
              <a:buChar char="•"/>
            </a:pPr>
            <a:r>
              <a:rPr lang="en-US" sz="2500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LV_like</a:t>
            </a:r>
            <a:r>
              <a:rPr lang="en-US" sz="25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: Ulcers, White scars, Purple net pattern</a:t>
            </a:r>
          </a:p>
          <a:p>
            <a:pPr marL="539780" lvl="1" indent="-269890" algn="just">
              <a:lnSpc>
                <a:spcPts val="4425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Others: Psoriasis, Eczema, Herpes zoster</a:t>
            </a:r>
          </a:p>
          <a:p>
            <a:pPr marL="539780" lvl="1" indent="-269890" algn="just">
              <a:lnSpc>
                <a:spcPts val="4425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After Augmentation: 200 total | 170 train | 30 validation</a:t>
            </a:r>
          </a:p>
          <a:p>
            <a:pPr marL="571546" lvl="2" indent="-190515" algn="just">
              <a:lnSpc>
                <a:spcPts val="4426"/>
              </a:lnSpc>
            </a:pPr>
            <a:endParaRPr lang="en-US" sz="2500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-304800" y="93238"/>
            <a:ext cx="17753686" cy="910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6"/>
              </a:lnSpc>
            </a:pPr>
            <a:r>
              <a:rPr lang="en-US" sz="4556" b="1" u="sng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Dataset, Preprocessing and Augmentation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44542" y="1717548"/>
            <a:ext cx="8072370" cy="262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34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Preprocessing:</a:t>
            </a:r>
          </a:p>
          <a:p>
            <a:pPr algn="just">
              <a:lnSpc>
                <a:spcPts val="534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1. Resize to 224×224</a:t>
            </a:r>
          </a:p>
          <a:p>
            <a:pPr algn="just">
              <a:lnSpc>
                <a:spcPts val="534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2. Hair removal using morphological </a:t>
            </a:r>
            <a:r>
              <a:rPr lang="en-US" sz="2500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blackhat</a:t>
            </a:r>
            <a:r>
              <a:rPr lang="en-US" sz="25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filter</a:t>
            </a:r>
          </a:p>
          <a:p>
            <a:pPr algn="just">
              <a:lnSpc>
                <a:spcPts val="5340"/>
              </a:lnSpc>
              <a:spcBef>
                <a:spcPct val="0"/>
              </a:spcBef>
            </a:pPr>
            <a:r>
              <a:rPr lang="en-US" sz="25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3. Normalize pixels [0–255] → [0–1]</a:t>
            </a:r>
          </a:p>
        </p:txBody>
      </p:sp>
      <p:sp>
        <p:nvSpPr>
          <p:cNvPr id="27" name="Freeform 27"/>
          <p:cNvSpPr/>
          <p:nvPr/>
        </p:nvSpPr>
        <p:spPr>
          <a:xfrm>
            <a:off x="5105400" y="5390098"/>
            <a:ext cx="9220200" cy="3556419"/>
          </a:xfrm>
          <a:custGeom>
            <a:avLst/>
            <a:gdLst/>
            <a:ahLst/>
            <a:cxnLst/>
            <a:rect l="l" t="t" r="r" b="b"/>
            <a:pathLst>
              <a:path w="11428514" h="3743542">
                <a:moveTo>
                  <a:pt x="0" y="0"/>
                </a:moveTo>
                <a:lnTo>
                  <a:pt x="11428514" y="0"/>
                </a:lnTo>
                <a:lnTo>
                  <a:pt x="11428514" y="3743542"/>
                </a:lnTo>
                <a:lnTo>
                  <a:pt x="0" y="3743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1973" b="-7283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71B2F51C-D2FF-7CE1-3A15-2E390B9B9EF9}"/>
              </a:ext>
            </a:extLst>
          </p:cNvPr>
          <p:cNvSpPr/>
          <p:nvPr/>
        </p:nvSpPr>
        <p:spPr>
          <a:xfrm>
            <a:off x="8425821" y="984536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660734"/>
            <a:ext cx="18288000" cy="2311734"/>
          </a:xfrm>
          <a:custGeom>
            <a:avLst/>
            <a:gdLst/>
            <a:ahLst/>
            <a:cxnLst/>
            <a:rect l="l" t="t" r="r" b="b"/>
            <a:pathLst>
              <a:path w="22856158" h="2311734">
                <a:moveTo>
                  <a:pt x="0" y="0"/>
                </a:moveTo>
                <a:lnTo>
                  <a:pt x="22856157" y="0"/>
                </a:lnTo>
                <a:lnTo>
                  <a:pt x="22856157" y="2311734"/>
                </a:lnTo>
                <a:lnTo>
                  <a:pt x="0" y="2311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511924" y="1819423"/>
            <a:ext cx="11244109" cy="3018936"/>
          </a:xfrm>
          <a:custGeom>
            <a:avLst/>
            <a:gdLst/>
            <a:ahLst/>
            <a:cxnLst/>
            <a:rect l="l" t="t" r="r" b="b"/>
            <a:pathLst>
              <a:path w="11244109" h="3018936">
                <a:moveTo>
                  <a:pt x="0" y="0"/>
                </a:moveTo>
                <a:lnTo>
                  <a:pt x="11244109" y="0"/>
                </a:lnTo>
                <a:lnTo>
                  <a:pt x="11244109" y="3018936"/>
                </a:lnTo>
                <a:lnTo>
                  <a:pt x="0" y="3018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7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6511924" y="5143500"/>
            <a:ext cx="11244109" cy="2819104"/>
          </a:xfrm>
          <a:custGeom>
            <a:avLst/>
            <a:gdLst/>
            <a:ahLst/>
            <a:cxnLst/>
            <a:rect l="l" t="t" r="r" b="b"/>
            <a:pathLst>
              <a:path w="11244109" h="2819104">
                <a:moveTo>
                  <a:pt x="0" y="0"/>
                </a:moveTo>
                <a:lnTo>
                  <a:pt x="11244109" y="0"/>
                </a:lnTo>
                <a:lnTo>
                  <a:pt x="11244109" y="2819104"/>
                </a:lnTo>
                <a:lnTo>
                  <a:pt x="0" y="2819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8" b="-47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545782" y="1603375"/>
            <a:ext cx="11309032" cy="804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endParaRPr dirty="0"/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dirty="0"/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 Extraction (3 techniques):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Canny: Lesion boundaries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LBP: Skin texture, Net-like LV pattern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HOG: Lesion shape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 Selection: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PCA on HOG → Keeps only most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important components, removes noise.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Model: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MobileNetV2 (pretrained 1.2M images) FROZEN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GlobalAveragePooling</a:t>
            </a: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→ Dense(64) + L2(0.05) → Dropout(0.6) → Output(2)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Adam </a:t>
            </a:r>
            <a:r>
              <a:rPr lang="en-US" sz="2499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lr</a:t>
            </a:r>
            <a:r>
              <a:rPr lang="en-US" sz="2499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=0.0001 | Label Smoothing 0.1 | Early Stopping | </a:t>
            </a:r>
            <a:r>
              <a:rPr lang="en-US" sz="2499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ReduceLROnPlateau</a:t>
            </a:r>
            <a:endParaRPr lang="en-US" sz="2499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5782" y="368979"/>
            <a:ext cx="13838758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 EXTRACTION, SELECTION &amp;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65000" y="9914096"/>
            <a:ext cx="7923000" cy="76200"/>
            <a:chOff x="0" y="0"/>
            <a:chExt cx="8757920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-1807757"/>
            <a:ext cx="18288001" cy="3375956"/>
          </a:xfrm>
          <a:custGeom>
            <a:avLst/>
            <a:gdLst/>
            <a:ahLst/>
            <a:cxnLst/>
            <a:rect l="l" t="t" r="r" b="b"/>
            <a:pathLst>
              <a:path w="19424477" h="3375956">
                <a:moveTo>
                  <a:pt x="0" y="0"/>
                </a:moveTo>
                <a:lnTo>
                  <a:pt x="19424476" y="0"/>
                </a:lnTo>
                <a:lnTo>
                  <a:pt x="19424476" y="3375956"/>
                </a:lnTo>
                <a:lnTo>
                  <a:pt x="0" y="3375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91697" y="9914096"/>
            <a:ext cx="8074943" cy="76200"/>
            <a:chOff x="0" y="0"/>
            <a:chExt cx="8757920" cy="101600"/>
          </a:xfrm>
        </p:grpSpPr>
        <p:sp>
          <p:nvSpPr>
            <p:cNvPr id="8" name="Freeform 8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52400" y="367846"/>
            <a:ext cx="7711440" cy="76200"/>
            <a:chOff x="0" y="0"/>
            <a:chExt cx="8757920" cy="101600"/>
          </a:xfrm>
        </p:grpSpPr>
        <p:sp>
          <p:nvSpPr>
            <p:cNvPr id="12" name="Freeform 12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64999" y="367846"/>
            <a:ext cx="8087983" cy="76200"/>
            <a:chOff x="0" y="0"/>
            <a:chExt cx="8757920" cy="101600"/>
          </a:xfrm>
        </p:grpSpPr>
        <p:sp>
          <p:nvSpPr>
            <p:cNvPr id="14" name="Freeform 14"/>
            <p:cNvSpPr/>
            <p:nvPr/>
          </p:nvSpPr>
          <p:spPr>
            <a:xfrm>
              <a:off x="50800" y="0"/>
              <a:ext cx="8656320" cy="101600"/>
            </a:xfrm>
            <a:custGeom>
              <a:avLst/>
              <a:gdLst/>
              <a:ahLst/>
              <a:cxnLst/>
              <a:rect l="l" t="t" r="r" b="b"/>
              <a:pathLst>
                <a:path w="8656320" h="101600">
                  <a:moveTo>
                    <a:pt x="0" y="0"/>
                  </a:moveTo>
                  <a:lnTo>
                    <a:pt x="8656320" y="0"/>
                  </a:lnTo>
                  <a:lnTo>
                    <a:pt x="865632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F46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23058" y="1696726"/>
            <a:ext cx="17422325" cy="2489200"/>
            <a:chOff x="0" y="0"/>
            <a:chExt cx="21892129" cy="31278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892036" cy="3127778"/>
            </a:xfrm>
            <a:custGeom>
              <a:avLst/>
              <a:gdLst/>
              <a:ahLst/>
              <a:cxnLst/>
              <a:rect l="l" t="t" r="r" b="b"/>
              <a:pathLst>
                <a:path w="21892036" h="3127778">
                  <a:moveTo>
                    <a:pt x="0" y="0"/>
                  </a:moveTo>
                  <a:lnTo>
                    <a:pt x="21892036" y="0"/>
                  </a:lnTo>
                  <a:lnTo>
                    <a:pt x="21892036" y="3127778"/>
                  </a:lnTo>
                  <a:lnTo>
                    <a:pt x="0" y="312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95640" b="-29564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423058" y="1740151"/>
            <a:ext cx="17422325" cy="2489200"/>
          </a:xfrm>
          <a:custGeom>
            <a:avLst/>
            <a:gdLst/>
            <a:ahLst/>
            <a:cxnLst/>
            <a:rect l="l" t="t" r="r" b="b"/>
            <a:pathLst>
              <a:path w="17422325" h="2489200">
                <a:moveTo>
                  <a:pt x="0" y="0"/>
                </a:moveTo>
                <a:lnTo>
                  <a:pt x="17422325" y="0"/>
                </a:lnTo>
                <a:lnTo>
                  <a:pt x="17422325" y="2489200"/>
                </a:lnTo>
                <a:lnTo>
                  <a:pt x="0" y="2489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7900" b="-22458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638855" y="1836911"/>
            <a:ext cx="17206528" cy="2844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92"/>
              </a:lnSpc>
            </a:pPr>
            <a:r>
              <a:rPr lang="en-US" sz="2594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Problem:</a:t>
            </a:r>
          </a:p>
          <a:p>
            <a:pPr marL="560155" lvl="1" indent="-280078" algn="just">
              <a:lnSpc>
                <a:spcPts val="4592"/>
              </a:lnSpc>
              <a:buFont typeface="Arial"/>
              <a:buChar char="•"/>
            </a:pPr>
            <a:r>
              <a:rPr lang="en-US" sz="2594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Training = 100%, model memorized ~30 images</a:t>
            </a:r>
          </a:p>
          <a:p>
            <a:pPr marL="560155" lvl="1" indent="-280078" algn="just">
              <a:lnSpc>
                <a:spcPts val="4592"/>
              </a:lnSpc>
              <a:buFont typeface="Arial"/>
              <a:buChar char="•"/>
            </a:pPr>
            <a:r>
              <a:rPr lang="en-US" sz="2594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Augmented copies are still same original photos → cannot fully fix with code</a:t>
            </a:r>
          </a:p>
          <a:p>
            <a:pPr marL="560155" lvl="1" indent="-280078" algn="just">
              <a:lnSpc>
                <a:spcPts val="4592"/>
              </a:lnSpc>
              <a:buFont typeface="Arial"/>
              <a:buChar char="•"/>
            </a:pPr>
            <a:r>
              <a:rPr lang="en-US" sz="2594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Honest limitation: 200+ real clinical images needed</a:t>
            </a:r>
          </a:p>
          <a:p>
            <a:pPr marL="571546" lvl="2" indent="-190515" algn="just">
              <a:lnSpc>
                <a:spcPts val="4426"/>
              </a:lnSpc>
            </a:pPr>
            <a:endParaRPr lang="en-US" sz="2594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706" y="657457"/>
            <a:ext cx="17753686" cy="910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6"/>
              </a:lnSpc>
            </a:pPr>
            <a:r>
              <a:rPr lang="en-US" sz="4556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OVERFITTING &amp; COMPARATIVE STUDY</a:t>
            </a:r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609620" y="4767109"/>
          <a:ext cx="15323820" cy="4489362"/>
        </p:xfrm>
        <a:graphic>
          <a:graphicData uri="http://schemas.openxmlformats.org/drawingml/2006/table">
            <a:tbl>
              <a:tblPr/>
              <a:tblGrid>
                <a:gridCol w="2652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0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6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8227"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 b="1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High Regularisation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 b="1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Reduced Regularisation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 b="1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Aggressive Learning Rate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227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Dropout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0.6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0.4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0.3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227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L2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0.05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0.01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227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Learning Rate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0.0001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0.0001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0.001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227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Epochs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30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20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15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227"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Label Smoothing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No</a:t>
                      </a:r>
                      <a:endParaRPr lang="en-US" sz="110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77"/>
                        </a:lnSpc>
                        <a:defRPr/>
                      </a:pPr>
                      <a:r>
                        <a:rPr lang="en-US" sz="2484" dirty="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No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Freeform 5">
            <a:extLst>
              <a:ext uri="{FF2B5EF4-FFF2-40B4-BE49-F238E27FC236}">
                <a16:creationId xmlns:a16="http://schemas.microsoft.com/office/drawing/2014/main" id="{DA5D01E0-C92B-2FA2-8D45-F63C62708E7E}"/>
              </a:ext>
            </a:extLst>
          </p:cNvPr>
          <p:cNvSpPr/>
          <p:nvPr/>
        </p:nvSpPr>
        <p:spPr>
          <a:xfrm>
            <a:off x="8128550" y="300852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8919288C-6AB1-1D1F-101A-5FECBF1642AB}"/>
              </a:ext>
            </a:extLst>
          </p:cNvPr>
          <p:cNvSpPr/>
          <p:nvPr/>
        </p:nvSpPr>
        <p:spPr>
          <a:xfrm>
            <a:off x="8488204" y="982724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4">
            <a:extLst>
              <a:ext uri="{FF2B5EF4-FFF2-40B4-BE49-F238E27FC236}">
                <a16:creationId xmlns:a16="http://schemas.microsoft.com/office/drawing/2014/main" id="{6397D9D6-D000-51F9-29E3-05028917632C}"/>
              </a:ext>
            </a:extLst>
          </p:cNvPr>
          <p:cNvSpPr/>
          <p:nvPr/>
        </p:nvSpPr>
        <p:spPr>
          <a:xfrm>
            <a:off x="0" y="-647700"/>
            <a:ext cx="18288000" cy="2066538"/>
          </a:xfrm>
          <a:custGeom>
            <a:avLst/>
            <a:gdLst/>
            <a:ahLst/>
            <a:cxnLst/>
            <a:rect l="l" t="t" r="r" b="b"/>
            <a:pathLst>
              <a:path w="24055785" h="2365761">
                <a:moveTo>
                  <a:pt x="0" y="0"/>
                </a:moveTo>
                <a:lnTo>
                  <a:pt x="24055785" y="0"/>
                </a:lnTo>
                <a:lnTo>
                  <a:pt x="24055785" y="2365761"/>
                </a:lnTo>
                <a:lnTo>
                  <a:pt x="0" y="23657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1314069"/>
            <a:ext cx="18288000" cy="4911410"/>
            <a:chOff x="0" y="0"/>
            <a:chExt cx="23887652" cy="59031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87551" cy="5903056"/>
            </a:xfrm>
            <a:custGeom>
              <a:avLst/>
              <a:gdLst/>
              <a:ahLst/>
              <a:cxnLst/>
              <a:rect l="l" t="t" r="r" b="b"/>
              <a:pathLst>
                <a:path w="23887551" h="5903056">
                  <a:moveTo>
                    <a:pt x="0" y="0"/>
                  </a:moveTo>
                  <a:lnTo>
                    <a:pt x="23887551" y="0"/>
                  </a:lnTo>
                  <a:lnTo>
                    <a:pt x="23887551" y="5903056"/>
                  </a:lnTo>
                  <a:lnTo>
                    <a:pt x="0" y="5903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9833" b="-14983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6018096"/>
            <a:ext cx="18288000" cy="4268904"/>
            <a:chOff x="0" y="0"/>
            <a:chExt cx="4960302" cy="11243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60301" cy="1124320"/>
            </a:xfrm>
            <a:custGeom>
              <a:avLst/>
              <a:gdLst/>
              <a:ahLst/>
              <a:cxnLst/>
              <a:rect l="l" t="t" r="r" b="b"/>
              <a:pathLst>
                <a:path w="4960301" h="1124320">
                  <a:moveTo>
                    <a:pt x="0" y="0"/>
                  </a:moveTo>
                  <a:lnTo>
                    <a:pt x="4960301" y="0"/>
                  </a:lnTo>
                  <a:lnTo>
                    <a:pt x="4960301" y="1124320"/>
                  </a:lnTo>
                  <a:lnTo>
                    <a:pt x="0" y="1124320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960302" cy="1162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115800" y="6239733"/>
            <a:ext cx="4788939" cy="3680968"/>
          </a:xfrm>
          <a:custGeom>
            <a:avLst/>
            <a:gdLst/>
            <a:ahLst/>
            <a:cxnLst/>
            <a:rect l="l" t="t" r="r" b="b"/>
            <a:pathLst>
              <a:path w="5375250" h="4032946">
                <a:moveTo>
                  <a:pt x="0" y="0"/>
                </a:moveTo>
                <a:lnTo>
                  <a:pt x="5375250" y="0"/>
                </a:lnTo>
                <a:lnTo>
                  <a:pt x="5375250" y="4032946"/>
                </a:lnTo>
                <a:lnTo>
                  <a:pt x="0" y="403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0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7526274" y="48006"/>
            <a:ext cx="4589526" cy="1266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6"/>
              </a:lnSpc>
              <a:spcBef>
                <a:spcPct val="0"/>
              </a:spcBef>
            </a:pPr>
            <a:r>
              <a:rPr lang="en-US" sz="6000" b="1" u="sng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9600" y="1851185"/>
            <a:ext cx="8159888" cy="2887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3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Confusion Matrix:</a:t>
            </a:r>
          </a:p>
          <a:p>
            <a:pPr algn="just">
              <a:lnSpc>
                <a:spcPts val="5763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</a:t>
            </a:r>
            <a:r>
              <a:rPr lang="en-US" sz="32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Darker blue = more predictions there</a:t>
            </a:r>
          </a:p>
          <a:p>
            <a:pPr algn="just">
              <a:lnSpc>
                <a:spcPts val="5763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 False Negative (LV predicted as Other) = most dangerous medically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9600" y="6471805"/>
            <a:ext cx="8938689" cy="3507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19"/>
              </a:lnSpc>
              <a:spcBef>
                <a:spcPct val="0"/>
              </a:spcBef>
            </a:pPr>
            <a:r>
              <a:rPr lang="en-US" sz="3120" b="1" u="sng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ROC Curve:</a:t>
            </a:r>
          </a:p>
          <a:p>
            <a:pPr algn="just">
              <a:lnSpc>
                <a:spcPts val="5619"/>
              </a:lnSpc>
              <a:spcBef>
                <a:spcPct val="0"/>
              </a:spcBef>
            </a:pPr>
            <a:r>
              <a:rPr lang="en-US" sz="312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AUC = 1.0 → perfect | AUC = 0.5 → random guessing</a:t>
            </a:r>
          </a:p>
          <a:p>
            <a:pPr algn="just">
              <a:lnSpc>
                <a:spcPts val="5619"/>
              </a:lnSpc>
              <a:spcBef>
                <a:spcPct val="0"/>
              </a:spcBef>
            </a:pPr>
            <a:r>
              <a:rPr lang="en-US" sz="312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Our AUC shown on graph → genuine learning confirmed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125632" y="1614039"/>
            <a:ext cx="4802424" cy="3692128"/>
          </a:xfrm>
          <a:custGeom>
            <a:avLst/>
            <a:gdLst/>
            <a:ahLst/>
            <a:cxnLst/>
            <a:rect l="l" t="t" r="r" b="b"/>
            <a:pathLst>
              <a:path w="5375250" h="4059044">
                <a:moveTo>
                  <a:pt x="0" y="0"/>
                </a:moveTo>
                <a:lnTo>
                  <a:pt x="5375250" y="0"/>
                </a:lnTo>
                <a:lnTo>
                  <a:pt x="5375250" y="4059044"/>
                </a:lnTo>
                <a:lnTo>
                  <a:pt x="0" y="40590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22" b="-322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961" y="2616239"/>
            <a:ext cx="18261039" cy="3060661"/>
            <a:chOff x="0" y="0"/>
            <a:chExt cx="23572720" cy="3367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72620" cy="3367149"/>
            </a:xfrm>
            <a:custGeom>
              <a:avLst/>
              <a:gdLst/>
              <a:ahLst/>
              <a:cxnLst/>
              <a:rect l="l" t="t" r="r" b="b"/>
              <a:pathLst>
                <a:path w="23572620" h="3367149">
                  <a:moveTo>
                    <a:pt x="0" y="0"/>
                  </a:moveTo>
                  <a:lnTo>
                    <a:pt x="23572620" y="0"/>
                  </a:lnTo>
                  <a:lnTo>
                    <a:pt x="23572620" y="3367149"/>
                  </a:lnTo>
                  <a:lnTo>
                    <a:pt x="0" y="3367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5716" b="-2957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-1" y="-412215"/>
            <a:ext cx="18288001" cy="2365761"/>
          </a:xfrm>
          <a:custGeom>
            <a:avLst/>
            <a:gdLst/>
            <a:ahLst/>
            <a:cxnLst/>
            <a:rect l="l" t="t" r="r" b="b"/>
            <a:pathLst>
              <a:path w="24055785" h="2365761">
                <a:moveTo>
                  <a:pt x="0" y="0"/>
                </a:moveTo>
                <a:lnTo>
                  <a:pt x="24055785" y="0"/>
                </a:lnTo>
                <a:lnTo>
                  <a:pt x="24055785" y="2365761"/>
                </a:lnTo>
                <a:lnTo>
                  <a:pt x="0" y="23657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6764026"/>
            <a:ext cx="17983200" cy="3256274"/>
            <a:chOff x="0" y="0"/>
            <a:chExt cx="24022557" cy="3391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22455" cy="3391086"/>
            </a:xfrm>
            <a:custGeom>
              <a:avLst/>
              <a:gdLst/>
              <a:ahLst/>
              <a:cxnLst/>
              <a:rect l="l" t="t" r="r" b="b"/>
              <a:pathLst>
                <a:path w="24022455" h="3391086">
                  <a:moveTo>
                    <a:pt x="0" y="0"/>
                  </a:moveTo>
                  <a:lnTo>
                    <a:pt x="24022455" y="0"/>
                  </a:lnTo>
                  <a:lnTo>
                    <a:pt x="24022455" y="3391086"/>
                  </a:lnTo>
                  <a:lnTo>
                    <a:pt x="0" y="3391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9826" b="-29983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85966" y="1903817"/>
            <a:ext cx="15459904" cy="8235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40"/>
              </a:lnSpc>
            </a:pPr>
            <a:r>
              <a:rPr lang="en-US" sz="3000" b="1" u="sng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Conclusion:</a:t>
            </a:r>
          </a:p>
          <a:p>
            <a:pPr marL="731521" lvl="2" indent="-243840" algn="just">
              <a:lnSpc>
                <a:spcPts val="544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First AI system for LV diagnosis in literature.</a:t>
            </a:r>
          </a:p>
          <a:p>
            <a:pPr marL="731521" lvl="2" indent="-243840" algn="just">
              <a:lnSpc>
                <a:spcPts val="544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Complete pipeline on ~30 personal images.</a:t>
            </a:r>
          </a:p>
          <a:p>
            <a:pPr marL="731521" lvl="2" indent="-243840" algn="just">
              <a:lnSpc>
                <a:spcPts val="544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3 feature extraction + PCA + 3 algorithm comparison completed.</a:t>
            </a:r>
          </a:p>
          <a:p>
            <a:pPr marL="690880" lvl="2" indent="-230293" algn="just">
              <a:lnSpc>
                <a:spcPts val="544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Overfitting acknowledged as data limitation, not model failure.</a:t>
            </a:r>
          </a:p>
          <a:p>
            <a:pPr marL="460587" lvl="2" algn="just">
              <a:lnSpc>
                <a:spcPts val="5440"/>
              </a:lnSpc>
            </a:pPr>
            <a:endParaRPr lang="en-US" sz="3000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just">
              <a:lnSpc>
                <a:spcPts val="5440"/>
              </a:lnSpc>
            </a:pPr>
            <a:r>
              <a:rPr lang="en-US" sz="3000" b="1" u="sng" dirty="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Future Plan:</a:t>
            </a:r>
          </a:p>
          <a:p>
            <a:pPr marL="731521" lvl="2" indent="-243840" algn="just">
              <a:lnSpc>
                <a:spcPts val="544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Collect 200+ real LV images with dermatologists.</a:t>
            </a:r>
          </a:p>
          <a:p>
            <a:pPr marL="690880" lvl="2" indent="-230293" algn="just">
              <a:lnSpc>
                <a:spcPts val="544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Add patient metadata → multimodal fusion.</a:t>
            </a:r>
          </a:p>
          <a:p>
            <a:pPr marL="731521" lvl="2" indent="-243840" algn="just">
              <a:lnSpc>
                <a:spcPts val="544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Build web app.</a:t>
            </a:r>
          </a:p>
          <a:p>
            <a:pPr marL="731521" lvl="2" indent="-243840" algn="just">
              <a:lnSpc>
                <a:spcPts val="5440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Submit research paper.</a:t>
            </a:r>
          </a:p>
          <a:p>
            <a:pPr marL="731521" lvl="2" indent="-243840" algn="just">
              <a:lnSpc>
                <a:spcPts val="5440"/>
              </a:lnSpc>
            </a:pPr>
            <a:endParaRPr lang="en-US" sz="3200" dirty="0">
              <a:solidFill>
                <a:srgbClr val="0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1050" y="384696"/>
            <a:ext cx="14228921" cy="126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6"/>
              </a:lnSpc>
            </a:pPr>
            <a:r>
              <a:rPr lang="en-US" sz="6000" b="1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 and Future Plan</a:t>
            </a:r>
          </a:p>
        </p:txBody>
      </p:sp>
      <p:sp>
        <p:nvSpPr>
          <p:cNvPr id="9" name="Freeform 9"/>
          <p:cNvSpPr/>
          <p:nvPr/>
        </p:nvSpPr>
        <p:spPr>
          <a:xfrm>
            <a:off x="381001" y="2616239"/>
            <a:ext cx="17449799" cy="3060620"/>
          </a:xfrm>
          <a:custGeom>
            <a:avLst/>
            <a:gdLst/>
            <a:ahLst/>
            <a:cxnLst/>
            <a:rect l="l" t="t" r="r" b="b"/>
            <a:pathLst>
              <a:path w="13094533" h="2687289">
                <a:moveTo>
                  <a:pt x="0" y="0"/>
                </a:moveTo>
                <a:lnTo>
                  <a:pt x="13094533" y="0"/>
                </a:lnTo>
                <a:lnTo>
                  <a:pt x="13094533" y="2687289"/>
                </a:lnTo>
                <a:lnTo>
                  <a:pt x="0" y="268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9664" b="-1232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381001" y="6764025"/>
            <a:ext cx="17602123" cy="3256231"/>
          </a:xfrm>
          <a:custGeom>
            <a:avLst/>
            <a:gdLst/>
            <a:ahLst/>
            <a:cxnLst/>
            <a:rect l="l" t="t" r="r" b="b"/>
            <a:pathLst>
              <a:path w="13305091" h="2687289">
                <a:moveTo>
                  <a:pt x="0" y="0"/>
                </a:moveTo>
                <a:lnTo>
                  <a:pt x="13305091" y="0"/>
                </a:lnTo>
                <a:lnTo>
                  <a:pt x="13305091" y="2687289"/>
                </a:lnTo>
                <a:lnTo>
                  <a:pt x="0" y="268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2392" b="-125986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44711" y="-470144"/>
            <a:ext cx="2543289" cy="10757144"/>
          </a:xfrm>
          <a:custGeom>
            <a:avLst/>
            <a:gdLst/>
            <a:ahLst/>
            <a:cxnLst/>
            <a:rect l="l" t="t" r="r" b="b"/>
            <a:pathLst>
              <a:path w="2543289" h="10757144">
                <a:moveTo>
                  <a:pt x="0" y="0"/>
                </a:moveTo>
                <a:lnTo>
                  <a:pt x="2543289" y="0"/>
                </a:lnTo>
                <a:lnTo>
                  <a:pt x="2543289" y="10757144"/>
                </a:lnTo>
                <a:lnTo>
                  <a:pt x="0" y="10757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4527911" y="2798159"/>
            <a:ext cx="3283734" cy="5064576"/>
            <a:chOff x="0" y="0"/>
            <a:chExt cx="4378312" cy="67527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78325" cy="6752844"/>
            </a:xfrm>
            <a:custGeom>
              <a:avLst/>
              <a:gdLst/>
              <a:ahLst/>
              <a:cxnLst/>
              <a:rect l="l" t="t" r="r" b="b"/>
              <a:pathLst>
                <a:path w="4378325" h="6752844">
                  <a:moveTo>
                    <a:pt x="363220" y="0"/>
                  </a:moveTo>
                  <a:lnTo>
                    <a:pt x="4015105" y="0"/>
                  </a:lnTo>
                  <a:cubicBezTo>
                    <a:pt x="4111371" y="0"/>
                    <a:pt x="4203827" y="38227"/>
                    <a:pt x="4271899" y="106426"/>
                  </a:cubicBezTo>
                  <a:cubicBezTo>
                    <a:pt x="4339971" y="174625"/>
                    <a:pt x="4378325" y="266954"/>
                    <a:pt x="4378325" y="363220"/>
                  </a:cubicBezTo>
                  <a:lnTo>
                    <a:pt x="4378325" y="6389624"/>
                  </a:lnTo>
                  <a:cubicBezTo>
                    <a:pt x="4378325" y="6485890"/>
                    <a:pt x="4340098" y="6578346"/>
                    <a:pt x="4271899" y="6646418"/>
                  </a:cubicBezTo>
                  <a:cubicBezTo>
                    <a:pt x="4203700" y="6714490"/>
                    <a:pt x="4111371" y="6752844"/>
                    <a:pt x="4015105" y="6752844"/>
                  </a:cubicBezTo>
                  <a:lnTo>
                    <a:pt x="363220" y="6752844"/>
                  </a:lnTo>
                  <a:cubicBezTo>
                    <a:pt x="266954" y="6752844"/>
                    <a:pt x="174498" y="6714617"/>
                    <a:pt x="106426" y="6646418"/>
                  </a:cubicBezTo>
                  <a:cubicBezTo>
                    <a:pt x="38354" y="6578219"/>
                    <a:pt x="0" y="6485890"/>
                    <a:pt x="0" y="6389624"/>
                  </a:cubicBezTo>
                  <a:lnTo>
                    <a:pt x="0" y="363220"/>
                  </a:lnTo>
                  <a:cubicBezTo>
                    <a:pt x="0" y="266827"/>
                    <a:pt x="38227" y="174498"/>
                    <a:pt x="106426" y="106426"/>
                  </a:cubicBezTo>
                  <a:cubicBezTo>
                    <a:pt x="174625" y="38354"/>
                    <a:pt x="266827" y="0"/>
                    <a:pt x="363220" y="0"/>
                  </a:cubicBezTo>
                  <a:close/>
                </a:path>
              </a:pathLst>
            </a:custGeom>
            <a:blipFill>
              <a:blip r:embed="rId3"/>
              <a:stretch>
                <a:fillRect l="-65673" r="-65673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7636" y="-122025"/>
            <a:ext cx="4406856" cy="157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6"/>
              </a:lnSpc>
            </a:pPr>
            <a:r>
              <a:rPr lang="en-US" sz="6000" b="1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925" y="1537221"/>
            <a:ext cx="15340660" cy="815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1.</a:t>
            </a:r>
            <a:r>
              <a:rPr lang="en-US" sz="2211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Han et al. (2020)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Classification of the clinical images for benign and malignant cutaneous tumors using a deep learning algorithm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Journal of Investigative Dermatology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5170FF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211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4" tooltip="https://www.nature.com/articles/nature21056"/>
              </a:rPr>
              <a:t>https://www.nature.com/articles/nature21056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2. </a:t>
            </a:r>
            <a:r>
              <a:rPr lang="en-US" sz="2211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Tschandl et al. (2020)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Human–computer collaboration for skin cancer recognition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Nature Medicine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211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5" tooltip="https://www.nature.com/articles/s41591-020-0942-0"/>
              </a:rPr>
              <a:t>https://www.nature.com/articles/s41591-020-0942-0</a:t>
            </a:r>
          </a:p>
          <a:p>
            <a:pPr algn="just">
              <a:lnSpc>
                <a:spcPts val="3760"/>
              </a:lnSpc>
            </a:pPr>
            <a:r>
              <a:rPr lang="en-US" sz="2211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Liu et al. (2021)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A multimodal deep learning framework for skin disease diagnosis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IEEE Transactions on Medical Imaging</a:t>
            </a:r>
          </a:p>
          <a:p>
            <a:pPr algn="just">
              <a:lnSpc>
                <a:spcPts val="3760"/>
              </a:lnSpc>
            </a:pPr>
            <a:r>
              <a:rPr lang="en-US" sz="2211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6" tooltip="https://www.frontiersin.org/journals/medicine/articles/10.3389/fmed.2021.626369/full"/>
              </a:rPr>
              <a:t>https://www.frontiersin.org/journals/medicine/articles/10.3389/fmed.2021.626369/full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3.</a:t>
            </a:r>
            <a:r>
              <a:rPr lang="en-US" sz="2211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Graziani et al. (2022)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Explainable AI for dermatology: Visualizing model attention and feature importance</a:t>
            </a:r>
          </a:p>
          <a:p>
            <a:pPr algn="just">
              <a:lnSpc>
                <a:spcPts val="3760"/>
              </a:lnSpc>
            </a:pPr>
            <a:r>
              <a:rPr lang="en-US" sz="221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Medical Image Analysis</a:t>
            </a:r>
          </a:p>
          <a:p>
            <a:pPr algn="just">
              <a:lnSpc>
                <a:spcPts val="3760"/>
              </a:lnSpc>
            </a:pPr>
            <a:r>
              <a:rPr lang="en-US" sz="2211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7" tooltip="https://www.sciencedirect.com/science/article/abs/pii/S1361841522001219?via%3Dihub"/>
              </a:rPr>
              <a:t>https://www.sciencedirect.com/science/article/abs/pii/S1361841522001219?via%3Dihub</a:t>
            </a:r>
          </a:p>
          <a:p>
            <a:pPr algn="just">
              <a:lnSpc>
                <a:spcPts val="4806"/>
              </a:lnSpc>
            </a:pPr>
            <a:endParaRPr lang="en-US" sz="2211" u="sng">
              <a:solidFill>
                <a:srgbClr val="0000FF"/>
              </a:solidFill>
              <a:latin typeface="Quicksand"/>
              <a:ea typeface="Quicksand"/>
              <a:cs typeface="Quicksand"/>
              <a:sym typeface="Quicksand"/>
              <a:hlinkClick r:id="rId7" tooltip="https://www.sciencedirect.com/science/article/abs/pii/S1361841522001219?via%3Dihub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29322" y="-470144"/>
            <a:ext cx="3058678" cy="10757144"/>
          </a:xfrm>
          <a:custGeom>
            <a:avLst/>
            <a:gdLst/>
            <a:ahLst/>
            <a:cxnLst/>
            <a:rect l="l" t="t" r="r" b="b"/>
            <a:pathLst>
              <a:path w="3058678" h="10757144">
                <a:moveTo>
                  <a:pt x="0" y="0"/>
                </a:moveTo>
                <a:lnTo>
                  <a:pt x="3058678" y="0"/>
                </a:lnTo>
                <a:lnTo>
                  <a:pt x="3058678" y="10757144"/>
                </a:lnTo>
                <a:lnTo>
                  <a:pt x="0" y="10757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365356" y="1684925"/>
            <a:ext cx="4219518" cy="6507861"/>
            <a:chOff x="0" y="0"/>
            <a:chExt cx="5626024" cy="86771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26100" cy="8677148"/>
            </a:xfrm>
            <a:custGeom>
              <a:avLst/>
              <a:gdLst/>
              <a:ahLst/>
              <a:cxnLst/>
              <a:rect l="l" t="t" r="r" b="b"/>
              <a:pathLst>
                <a:path w="5626100" h="8677148">
                  <a:moveTo>
                    <a:pt x="363220" y="0"/>
                  </a:moveTo>
                  <a:lnTo>
                    <a:pt x="5262880" y="0"/>
                  </a:lnTo>
                  <a:cubicBezTo>
                    <a:pt x="5463413" y="0"/>
                    <a:pt x="5626100" y="162560"/>
                    <a:pt x="5626100" y="363220"/>
                  </a:cubicBezTo>
                  <a:lnTo>
                    <a:pt x="5626100" y="8313928"/>
                  </a:lnTo>
                  <a:cubicBezTo>
                    <a:pt x="5626100" y="8514461"/>
                    <a:pt x="5463540" y="8677148"/>
                    <a:pt x="5262880" y="8677148"/>
                  </a:cubicBezTo>
                  <a:lnTo>
                    <a:pt x="363220" y="8677148"/>
                  </a:lnTo>
                  <a:cubicBezTo>
                    <a:pt x="266954" y="8677148"/>
                    <a:pt x="174498" y="8638922"/>
                    <a:pt x="106426" y="8570722"/>
                  </a:cubicBezTo>
                  <a:cubicBezTo>
                    <a:pt x="38354" y="8502523"/>
                    <a:pt x="0" y="8410321"/>
                    <a:pt x="0" y="8313928"/>
                  </a:cubicBezTo>
                  <a:lnTo>
                    <a:pt x="0" y="363220"/>
                  </a:lnTo>
                  <a:cubicBezTo>
                    <a:pt x="0" y="266827"/>
                    <a:pt x="38227" y="174498"/>
                    <a:pt x="106426" y="106426"/>
                  </a:cubicBezTo>
                  <a:cubicBezTo>
                    <a:pt x="174625" y="38354"/>
                    <a:pt x="266827" y="0"/>
                    <a:pt x="363220" y="0"/>
                  </a:cubicBezTo>
                  <a:close/>
                </a:path>
              </a:pathLst>
            </a:custGeom>
            <a:blipFill>
              <a:blip r:embed="rId3"/>
              <a:stretch>
                <a:fillRect l="-65673" r="-6567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7636" y="-122025"/>
            <a:ext cx="4406856" cy="157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6"/>
              </a:lnSpc>
            </a:pPr>
            <a:r>
              <a:rPr lang="en-US" sz="6000" b="1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7636" y="1811093"/>
            <a:ext cx="12653772" cy="678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6"/>
              </a:lnSpc>
            </a:pP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4.</a:t>
            </a:r>
            <a:r>
              <a:rPr lang="en-US" sz="2397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Zbrzezny &amp; Krzywicki (2025)</a:t>
            </a:r>
          </a:p>
          <a:p>
            <a:pPr algn="just">
              <a:lnSpc>
                <a:spcPts val="4076"/>
              </a:lnSpc>
            </a:pP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Artificial Intelligence in Dermatology: A Review of Methods, Clinical Applications, and Perspectives Applied Sciences</a:t>
            </a:r>
          </a:p>
          <a:p>
            <a:pPr algn="just">
              <a:lnSpc>
                <a:spcPts val="4076"/>
              </a:lnSpc>
            </a:pP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397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4" tooltip="https://www.mdpi.com/2076-3417/15/14/7856"/>
              </a:rPr>
              <a:t>https://www.mdpi.com/2076-3417/15/14/7856</a:t>
            </a:r>
          </a:p>
          <a:p>
            <a:pPr algn="just">
              <a:lnSpc>
                <a:spcPts val="4076"/>
              </a:lnSpc>
            </a:pP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5. </a:t>
            </a:r>
            <a:r>
              <a:rPr lang="en-US" sz="2397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Luo et al., 2023</a:t>
            </a: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– Artificial Intelligence-Assisted Dermatology Diagnosis, Computers in Biology and Medicine, Elsevier.</a:t>
            </a:r>
          </a:p>
          <a:p>
            <a:pPr algn="just">
              <a:lnSpc>
                <a:spcPts val="4076"/>
              </a:lnSpc>
            </a:pP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</a:t>
            </a:r>
            <a:r>
              <a:rPr lang="en-US" sz="2397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5" tooltip="https://doi.org/10.1016/j.compbiomed.2023.107878"/>
              </a:rPr>
              <a:t>https://doi.org/10.1016/j.compbiomed.2023.107878</a:t>
            </a:r>
          </a:p>
          <a:p>
            <a:pPr algn="just">
              <a:lnSpc>
                <a:spcPts val="4076"/>
              </a:lnSpc>
            </a:pP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6. </a:t>
            </a:r>
            <a:r>
              <a:rPr lang="en-US" sz="2397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Chiou et al., 2024</a:t>
            </a: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– Multimodal Image Dataset for AI-Based Skin Cancer (MIDAS), NEJM AI.</a:t>
            </a:r>
          </a:p>
          <a:p>
            <a:pPr algn="just">
              <a:lnSpc>
                <a:spcPts val="4076"/>
              </a:lnSpc>
            </a:pP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397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6" tooltip="https://ai.nejm.org/doi/full/10.1056/AIdbp2400732?utm_source=chatgpt.com"/>
              </a:rPr>
              <a:t>https://ai.nejm.org/doi/full/10.1056/AIdbp2400732</a:t>
            </a:r>
          </a:p>
          <a:p>
            <a:pPr algn="just">
              <a:lnSpc>
                <a:spcPts val="4076"/>
              </a:lnSpc>
            </a:pP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7. </a:t>
            </a:r>
            <a:r>
              <a:rPr lang="en-US" sz="2397" b="1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Daneshjou et al., 2022</a:t>
            </a: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– Disparities in Dermatology AI Performance on Diverse Skin Tones, Nature Medicine.</a:t>
            </a:r>
          </a:p>
          <a:p>
            <a:pPr algn="just">
              <a:lnSpc>
                <a:spcPts val="4076"/>
              </a:lnSpc>
            </a:pPr>
            <a:r>
              <a:rPr lang="en-US" sz="2397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</a:t>
            </a:r>
            <a:r>
              <a:rPr lang="en-US" sz="2397" u="sng">
                <a:solidFill>
                  <a:srgbClr val="0000FF"/>
                </a:solidFill>
                <a:latin typeface="Quicksand"/>
                <a:ea typeface="Quicksand"/>
                <a:cs typeface="Quicksand"/>
                <a:sym typeface="Quicksand"/>
                <a:hlinkClick r:id="rId7" tooltip="https://pubmed.ncbi.nlm.nih.gov/35960806?utm_source=chatgpt.com"/>
              </a:rPr>
              <a:t>https://pubmed.ncbi.nlm.nih.gov/35960806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94718" y="0"/>
            <a:ext cx="5993282" cy="10287000"/>
            <a:chOff x="0" y="0"/>
            <a:chExt cx="8685784" cy="142135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85784" cy="14213587"/>
            </a:xfrm>
            <a:custGeom>
              <a:avLst/>
              <a:gdLst/>
              <a:ahLst/>
              <a:cxnLst/>
              <a:rect l="l" t="t" r="r" b="b"/>
              <a:pathLst>
                <a:path w="8685784" h="14213587">
                  <a:moveTo>
                    <a:pt x="0" y="0"/>
                  </a:moveTo>
                  <a:lnTo>
                    <a:pt x="8685784" y="0"/>
                  </a:lnTo>
                  <a:lnTo>
                    <a:pt x="8685784" y="14213587"/>
                  </a:lnTo>
                  <a:lnTo>
                    <a:pt x="0" y="14213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547" r="-454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47800" y="3956927"/>
            <a:ext cx="9650797" cy="199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2"/>
              </a:lnSpc>
            </a:pPr>
            <a:r>
              <a:rPr lang="en-US" sz="10694">
                <a:solidFill>
                  <a:srgbClr val="000000"/>
                </a:solidFill>
                <a:latin typeface="Knewave"/>
                <a:ea typeface="Knewave"/>
                <a:cs typeface="Knewave"/>
                <a:sym typeface="Knewave"/>
              </a:rPr>
              <a:t>THANK YOU.........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1229</Words>
  <Application>Microsoft Office PowerPoint</Application>
  <PresentationFormat>Custom</PresentationFormat>
  <Paragraphs>196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Knewave</vt:lpstr>
      <vt:lpstr>Calibri</vt:lpstr>
      <vt:lpstr>Arial</vt:lpstr>
      <vt:lpstr>Quicksand</vt:lpstr>
      <vt:lpstr>Quicksand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2427030134_GurnoorKaur_PBL2 (1).pptx</dc:title>
  <dc:creator>Gurnoor Kaur</dc:creator>
  <cp:lastModifiedBy>Gurnoor Kaur</cp:lastModifiedBy>
  <cp:revision>4</cp:revision>
  <dcterms:created xsi:type="dcterms:W3CDTF">2006-08-16T00:00:00Z</dcterms:created>
  <dcterms:modified xsi:type="dcterms:W3CDTF">2026-04-12T12:09:48Z</dcterms:modified>
  <dc:identifier>DAHGoXzCXps</dc:identifier>
</cp:coreProperties>
</file>